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9" r:id="rId7"/>
    <p:sldId id="260" r:id="rId8"/>
    <p:sldId id="261" r:id="rId9"/>
    <p:sldId id="262" r:id="rId10"/>
    <p:sldId id="263" r:id="rId11"/>
    <p:sldId id="265" r:id="rId12"/>
    <p:sldId id="274" r:id="rId13"/>
    <p:sldId id="266" r:id="rId14"/>
    <p:sldId id="275" r:id="rId15"/>
    <p:sldId id="268" r:id="rId16"/>
    <p:sldId id="269" r:id="rId17"/>
    <p:sldId id="270" r:id="rId18"/>
    <p:sldId id="271" r:id="rId19"/>
    <p:sldId id="273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6388100"/>
            <a:ext cx="12192000" cy="469900"/>
          </a:xfrm>
          <a:prstGeom prst="rect">
            <a:avLst/>
          </a:prstGeom>
          <a:solidFill>
            <a:srgbClr val="1A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6388100"/>
            <a:ext cx="12192000" cy="469900"/>
          </a:xfrm>
          <a:prstGeom prst="rect">
            <a:avLst/>
          </a:prstGeom>
          <a:solidFill>
            <a:srgbClr val="1A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77" name="椭圆 76"/>
          <p:cNvSpPr>
            <a:spLocks noGrp="1"/>
          </p:cNvSpPr>
          <p:nvPr/>
        </p:nvSpPr>
        <p:spPr>
          <a:xfrm>
            <a:off x="12583866" y="2485928"/>
            <a:ext cx="477840" cy="477840"/>
          </a:xfrm>
          <a:prstGeom prst="ellipse">
            <a:avLst/>
          </a:prstGeom>
          <a:solidFill>
            <a:srgbClr val="00359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8" name="椭圆 77"/>
          <p:cNvSpPr>
            <a:spLocks noGrp="1"/>
          </p:cNvSpPr>
          <p:nvPr/>
        </p:nvSpPr>
        <p:spPr>
          <a:xfrm>
            <a:off x="12583866" y="3190079"/>
            <a:ext cx="477840" cy="477840"/>
          </a:xfrm>
          <a:prstGeom prst="ellipse">
            <a:avLst/>
          </a:prstGeom>
          <a:solidFill>
            <a:srgbClr val="3038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9" name="椭圆 78"/>
          <p:cNvSpPr>
            <a:spLocks noGrp="1"/>
          </p:cNvSpPr>
          <p:nvPr/>
        </p:nvSpPr>
        <p:spPr>
          <a:xfrm>
            <a:off x="12583866" y="3894231"/>
            <a:ext cx="477840" cy="477840"/>
          </a:xfrm>
          <a:prstGeom prst="ellipse">
            <a:avLst/>
          </a:prstGeom>
          <a:solidFill>
            <a:srgbClr val="00359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77" name="椭圆 76"/>
          <p:cNvSpPr>
            <a:spLocks noGrp="1"/>
          </p:cNvSpPr>
          <p:nvPr/>
        </p:nvSpPr>
        <p:spPr>
          <a:xfrm>
            <a:off x="12583866" y="2485928"/>
            <a:ext cx="477840" cy="477840"/>
          </a:xfrm>
          <a:prstGeom prst="ellipse">
            <a:avLst/>
          </a:prstGeom>
          <a:solidFill>
            <a:srgbClr val="00359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8" name="椭圆 77"/>
          <p:cNvSpPr>
            <a:spLocks noGrp="1"/>
          </p:cNvSpPr>
          <p:nvPr/>
        </p:nvSpPr>
        <p:spPr>
          <a:xfrm>
            <a:off x="12583866" y="3190079"/>
            <a:ext cx="477840" cy="477840"/>
          </a:xfrm>
          <a:prstGeom prst="ellipse">
            <a:avLst/>
          </a:prstGeom>
          <a:solidFill>
            <a:srgbClr val="3038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9" name="椭圆 78"/>
          <p:cNvSpPr>
            <a:spLocks noGrp="1"/>
          </p:cNvSpPr>
          <p:nvPr/>
        </p:nvSpPr>
        <p:spPr>
          <a:xfrm>
            <a:off x="12583866" y="3894231"/>
            <a:ext cx="477840" cy="477840"/>
          </a:xfrm>
          <a:prstGeom prst="ellipse">
            <a:avLst/>
          </a:prstGeom>
          <a:solidFill>
            <a:srgbClr val="00359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5" name="矩形 74"/>
          <p:cNvSpPr>
            <a:spLocks noGrp="1"/>
          </p:cNvSpPr>
          <p:nvPr/>
        </p:nvSpPr>
        <p:spPr>
          <a:xfrm>
            <a:off x="0" y="-1270"/>
            <a:ext cx="12191365" cy="6858000"/>
          </a:xfrm>
          <a:prstGeom prst="rect">
            <a:avLst/>
          </a:prstGeom>
          <a:gradFill>
            <a:gsLst>
              <a:gs pos="0">
                <a:srgbClr val="222A35">
                  <a:alpha val="85000"/>
                </a:srgbClr>
              </a:gs>
              <a:gs pos="70000">
                <a:srgbClr val="003591">
                  <a:alpha val="57000"/>
                </a:srgbClr>
              </a:gs>
            </a:gsLst>
            <a:lin ang="26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0" name="任意多边形: 形状 79"/>
          <p:cNvSpPr>
            <a:spLocks noGrp="1"/>
          </p:cNvSpPr>
          <p:nvPr/>
        </p:nvSpPr>
        <p:spPr>
          <a:xfrm>
            <a:off x="3774680" y="0"/>
            <a:ext cx="8417320" cy="1958090"/>
          </a:xfrm>
          <a:custGeom>
            <a:avLst/>
            <a:gdLst/>
            <a:ahLst/>
            <a:cxnLst/>
            <a:rect l="l" t="t" r="r" b="b"/>
            <a:pathLst>
              <a:path w="8417320" h="1958090">
                <a:moveTo>
                  <a:pt x="0" y="0"/>
                </a:moveTo>
                <a:lnTo>
                  <a:pt x="8417320" y="0"/>
                </a:lnTo>
                <a:lnTo>
                  <a:pt x="8417320" y="1958090"/>
                </a:lnTo>
                <a:lnTo>
                  <a:pt x="8218020" y="1890790"/>
                </a:lnTo>
                <a:cubicBezTo>
                  <a:pt x="7491679" y="1663777"/>
                  <a:pt x="6513224" y="1460815"/>
                  <a:pt x="5543579" y="1363343"/>
                </a:cubicBezTo>
                <a:cubicBezTo>
                  <a:pt x="4250719" y="1233380"/>
                  <a:pt x="2236076" y="1392553"/>
                  <a:pt x="1184939" y="977263"/>
                </a:cubicBezTo>
                <a:cubicBezTo>
                  <a:pt x="790763" y="821529"/>
                  <a:pt x="463024" y="543578"/>
                  <a:pt x="190537" y="235563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20000"/>
                </a:schemeClr>
              </a:gs>
              <a:gs pos="35000">
                <a:schemeClr val="bg1">
                  <a:alpha val="10000"/>
                </a:schemeClr>
              </a:gs>
              <a:gs pos="70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1" name="任意多边形: 形状 80"/>
          <p:cNvSpPr>
            <a:spLocks noGrp="1"/>
          </p:cNvSpPr>
          <p:nvPr/>
        </p:nvSpPr>
        <p:spPr>
          <a:xfrm>
            <a:off x="2768600" y="1902616"/>
            <a:ext cx="2654160" cy="3783484"/>
          </a:xfrm>
          <a:custGeom>
            <a:avLst/>
            <a:gdLst/>
            <a:ahLst/>
            <a:cxnLst/>
            <a:rect l="l" t="t" r="r" b="b"/>
            <a:pathLst>
              <a:path w="2654160" h="3783484">
                <a:moveTo>
                  <a:pt x="51991" y="2"/>
                </a:moveTo>
                <a:cubicBezTo>
                  <a:pt x="332846" y="-263"/>
                  <a:pt x="632354" y="38367"/>
                  <a:pt x="889000" y="78583"/>
                </a:cubicBezTo>
                <a:cubicBezTo>
                  <a:pt x="1402292" y="159016"/>
                  <a:pt x="2042583" y="473341"/>
                  <a:pt x="2368550" y="865983"/>
                </a:cubicBezTo>
                <a:cubicBezTo>
                  <a:pt x="2694517" y="1258625"/>
                  <a:pt x="2807758" y="2161383"/>
                  <a:pt x="2349500" y="2739233"/>
                </a:cubicBezTo>
                <a:cubicBezTo>
                  <a:pt x="1919883" y="3280968"/>
                  <a:pt x="939602" y="3765962"/>
                  <a:pt x="75767" y="3783484"/>
                </a:cubicBezTo>
                <a:lnTo>
                  <a:pt x="0" y="3782221"/>
                </a:lnTo>
                <a:lnTo>
                  <a:pt x="0" y="2038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12000"/>
                </a:schemeClr>
              </a:gs>
              <a:gs pos="40000">
                <a:schemeClr val="bg1">
                  <a:alpha val="7000"/>
                </a:schemeClr>
              </a:gs>
              <a:gs pos="80000">
                <a:schemeClr val="bg1">
                  <a:alpha val="0"/>
                </a:schemeClr>
              </a:gs>
            </a:gsLst>
            <a:lin ang="12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82" name="任意多边形: 形状 81"/>
          <p:cNvSpPr>
            <a:spLocks noGrp="1"/>
          </p:cNvSpPr>
          <p:nvPr/>
        </p:nvSpPr>
        <p:spPr>
          <a:xfrm>
            <a:off x="6279152" y="3471632"/>
            <a:ext cx="5912848" cy="3386369"/>
          </a:xfrm>
          <a:custGeom>
            <a:avLst/>
            <a:gdLst/>
            <a:ahLst/>
            <a:cxnLst/>
            <a:rect l="l" t="t" r="r" b="b"/>
            <a:pathLst>
              <a:path w="5912848" h="3386369">
                <a:moveTo>
                  <a:pt x="3520071" y="405"/>
                </a:moveTo>
                <a:cubicBezTo>
                  <a:pt x="4338154" y="-13771"/>
                  <a:pt x="5144530" y="346538"/>
                  <a:pt x="5820135" y="732875"/>
                </a:cubicBezTo>
                <a:lnTo>
                  <a:pt x="5912848" y="787460"/>
                </a:lnTo>
                <a:lnTo>
                  <a:pt x="5912848" y="3386369"/>
                </a:lnTo>
                <a:lnTo>
                  <a:pt x="0" y="3386369"/>
                </a:lnTo>
                <a:lnTo>
                  <a:pt x="7538" y="3370815"/>
                </a:lnTo>
                <a:cubicBezTo>
                  <a:pt x="543658" y="2280719"/>
                  <a:pt x="1779461" y="222128"/>
                  <a:pt x="3212973" y="23955"/>
                </a:cubicBezTo>
                <a:cubicBezTo>
                  <a:pt x="3315367" y="9800"/>
                  <a:pt x="3417810" y="2177"/>
                  <a:pt x="3520071" y="405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0000"/>
                </a:schemeClr>
              </a:gs>
              <a:gs pos="35000">
                <a:schemeClr val="bg1">
                  <a:alpha val="9000"/>
                </a:schemeClr>
              </a:gs>
              <a:gs pos="70000">
                <a:schemeClr val="bg1">
                  <a:alpha val="0"/>
                </a:schemeClr>
              </a:gs>
            </a:gsLst>
            <a:lin ang="5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87" name="文本框 86"/>
          <p:cNvSpPr>
            <a:spLocks noGrp="1"/>
          </p:cNvSpPr>
          <p:nvPr/>
        </p:nvSpPr>
        <p:spPr>
          <a:xfrm>
            <a:off x="1449705" y="3588385"/>
            <a:ext cx="5334000" cy="1809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所属单位：彩电公司 软件平台开发部</a:t>
            </a:r>
            <a:endParaRPr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 indent="0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团队队长：李阳</a:t>
            </a:r>
            <a:endParaRPr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 indent="0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团队成员：卢鹏宇、朱梦莲</a:t>
            </a:r>
            <a:endParaRPr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 indent="0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种子人物：卢鹏宇</a:t>
            </a:r>
            <a:endParaRPr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7" name="文本框 96"/>
          <p:cNvSpPr>
            <a:spLocks noGrp="1"/>
          </p:cNvSpPr>
          <p:nvPr/>
        </p:nvSpPr>
        <p:spPr>
          <a:xfrm>
            <a:off x="1396456" y="1851658"/>
            <a:ext cx="7097204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全链路画质智慧学堂</a:t>
            </a:r>
            <a:endParaRPr sz="54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7044055" y="414655"/>
            <a:ext cx="470535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彩电公司</a:t>
            </a:r>
            <a:r>
              <a:rPr b="1" spc="500">
                <a:solidFill>
                  <a:srgbClr val="003591"/>
                </a:solidFill>
                <a:latin typeface="微软雅黑"/>
                <a:ea typeface="微软雅黑"/>
                <a:cs typeface="微软雅黑"/>
              </a:rPr>
              <a:t>“智领未来”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全场景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应用大赛</a:t>
            </a:r>
            <a:endParaRPr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1296035" y="2948940"/>
            <a:ext cx="2713355" cy="534670"/>
          </a:xfrm>
          <a:prstGeom prst="roundRect">
            <a:avLst>
              <a:gd name="adj" fmla="val 50000"/>
            </a:avLst>
          </a:prstGeom>
          <a:solidFill>
            <a:srgbClr val="00359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 b="1">
                <a:latin typeface="微软雅黑"/>
                <a:ea typeface="微软雅黑"/>
                <a:cs typeface="微软雅黑"/>
              </a:rPr>
              <a:t>AI应用｜知识平台</a:t>
            </a:r>
            <a:endParaRPr sz="2000" b="1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09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39725"/>
            <a:ext cx="1295400" cy="4432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椭圆 13"/>
          <p:cNvSpPr>
            <a:spLocks noGrp="1"/>
          </p:cNvSpPr>
          <p:nvPr/>
        </p:nvSpPr>
        <p:spPr>
          <a:xfrm>
            <a:off x="349003" y="381209"/>
            <a:ext cx="403243" cy="403243"/>
          </a:xfrm>
          <a:prstGeom prst="ellipse">
            <a:avLst/>
          </a:prstGeom>
          <a:gradFill>
            <a:gsLst>
              <a:gs pos="0">
                <a:srgbClr val="003591"/>
              </a:gs>
              <a:gs pos="52000">
                <a:srgbClr val="3038D6"/>
              </a:gs>
              <a:gs pos="100000">
                <a:srgbClr val="0035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5" name="任意多边形: 形状 14"/>
          <p:cNvSpPr>
            <a:spLocks noGrp="1"/>
          </p:cNvSpPr>
          <p:nvPr/>
        </p:nvSpPr>
        <p:spPr>
          <a:xfrm rot="13500000" flipV="1">
            <a:off x="468438" y="500645"/>
            <a:ext cx="164371" cy="164371"/>
          </a:xfrm>
          <a:custGeom>
            <a:avLst/>
            <a:gdLst/>
            <a:ahLst/>
            <a:cxnLst/>
            <a:rect l="l" t="t" r="r" b="b"/>
            <a:pathLst>
              <a:path w="581069" h="581068">
                <a:moveTo>
                  <a:pt x="0" y="684"/>
                </a:moveTo>
                <a:lnTo>
                  <a:pt x="684" y="684"/>
                </a:lnTo>
                <a:lnTo>
                  <a:pt x="684" y="0"/>
                </a:lnTo>
                <a:lnTo>
                  <a:pt x="547884" y="0"/>
                </a:lnTo>
                <a:lnTo>
                  <a:pt x="547884" y="98622"/>
                </a:lnTo>
                <a:lnTo>
                  <a:pt x="168359" y="98622"/>
                </a:lnTo>
                <a:lnTo>
                  <a:pt x="581069" y="511332"/>
                </a:lnTo>
                <a:lnTo>
                  <a:pt x="511333" y="581068"/>
                </a:lnTo>
                <a:lnTo>
                  <a:pt x="98622" y="168358"/>
                </a:lnTo>
                <a:lnTo>
                  <a:pt x="98622" y="547884"/>
                </a:lnTo>
                <a:lnTo>
                  <a:pt x="0" y="54788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1008768" y="321220"/>
            <a:ext cx="10668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gradFill>
                  <a:gsLst>
                    <a:gs pos="0">
                      <a:srgbClr val="003591"/>
                    </a:gs>
                    <a:gs pos="52000">
                      <a:srgbClr val="3038D6"/>
                    </a:gs>
                    <a:gs pos="100000">
                      <a:srgbClr val="003591"/>
                    </a:gs>
                  </a:gsLst>
                  <a:lin ang="5400000" scaled="1"/>
                </a:gradFill>
                <a:latin typeface="微软雅黑"/>
                <a:ea typeface="微软雅黑"/>
                <a:cs typeface="微软雅黑"/>
              </a:rPr>
              <a:t>项目摘要：一页纸说明</a:t>
            </a:r>
            <a:endParaRPr sz="2600" b="1">
              <a:gradFill>
                <a:gsLst>
                  <a:gs pos="0">
                    <a:srgbClr val="003591"/>
                  </a:gs>
                  <a:gs pos="52000">
                    <a:srgbClr val="3038D6"/>
                  </a:gs>
                  <a:gs pos="100000">
                    <a:srgbClr val="003591"/>
                  </a:gs>
                </a:gsLst>
                <a:lin ang="5400000" scaled="1"/>
              </a:gradFill>
              <a:latin typeface="微软雅黑"/>
              <a:ea typeface="微软雅黑"/>
              <a:cs typeface="微软雅黑"/>
            </a:endParaRPr>
          </a:p>
          <a:p>
            <a:endParaRPr sz="2600"/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66750" y="1181100"/>
            <a:ext cx="3238500" cy="1793875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00359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0100" y="1314450"/>
            <a:ext cx="361950" cy="266700"/>
          </a:xfrm>
          <a:prstGeom prst="roundRect">
            <a:avLst>
              <a:gd name="adj" fmla="val 28571"/>
            </a:avLst>
          </a:prstGeom>
          <a:solidFill>
            <a:srgbClr val="003591"/>
          </a:solidFill>
          <a:ln w="9525">
            <a:solidFill>
              <a:srgbClr val="003591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0100" y="135255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1905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  <a:endParaRPr sz="10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276350" y="131445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80702"/>
          </a:bodyPr>
          <a:lstStyle/>
          <a:p>
            <a:r>
              <a:rPr sz="1800" b="1">
                <a:solidFill>
                  <a:srgbClr val="1A2742"/>
                </a:solidFill>
                <a:latin typeface="微软雅黑" panose="020B0503020204020204" charset="-122"/>
              </a:rPr>
              <a:t>核心痛点</a:t>
            </a:r>
            <a:endParaRPr sz="1800" b="1">
              <a:solidFill>
                <a:srgbClr val="1A2742"/>
              </a:solidFill>
              <a:latin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38200" y="1714500"/>
            <a:ext cx="2895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4A5568"/>
                </a:solidFill>
                <a:latin typeface="微软雅黑" panose="020B0503020204020204" charset="-122"/>
              </a:rPr>
              <a:t>画质知识分散在论文、标准和内部文档，查找验证效率低；跨模块沟通缺少统一的知识口径与可交互的参考基线</a:t>
            </a:r>
            <a:endParaRPr sz="1400">
              <a:solidFill>
                <a:srgbClr val="4A5568"/>
              </a:solidFill>
              <a:latin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4333875" y="1181100"/>
            <a:ext cx="3238500" cy="1793875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5385C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4467225" y="1314450"/>
            <a:ext cx="361950" cy="266700"/>
          </a:xfrm>
          <a:prstGeom prst="roundRect">
            <a:avLst>
              <a:gd name="adj" fmla="val 28571"/>
            </a:avLst>
          </a:prstGeom>
          <a:solidFill>
            <a:srgbClr val="5385C5"/>
          </a:solidFill>
          <a:ln w="9525">
            <a:solidFill>
              <a:srgbClr val="5385C5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467225" y="135255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1905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  <a:endParaRPr sz="10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944110" y="131445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80702"/>
          </a:bodyPr>
          <a:lstStyle/>
          <a:p>
            <a:r>
              <a:rPr sz="1800" b="1">
                <a:solidFill>
                  <a:srgbClr val="1A2742"/>
                </a:solidFill>
                <a:latin typeface="微软雅黑" panose="020B0503020204020204" charset="-122"/>
              </a:rPr>
              <a:t>AI能力</a:t>
            </a:r>
            <a:endParaRPr sz="1800" b="1">
              <a:solidFill>
                <a:srgbClr val="1A2742"/>
              </a:solidFill>
              <a:latin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505325" y="1714500"/>
            <a:ext cx="2895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4A5568"/>
                </a:solidFill>
                <a:latin typeface="微软雅黑" panose="020B0503020204020204" charset="-122"/>
              </a:rPr>
              <a:t>Claude Code / Codex 辅助资料整理、审核与双语迭代；AI 驱动交互式页面、代码原型生成与内容质量把控</a:t>
            </a:r>
            <a:endParaRPr sz="1400">
              <a:solidFill>
                <a:srgbClr val="4A5568"/>
              </a:solidFill>
              <a:latin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8001000" y="1181100"/>
            <a:ext cx="3238500" cy="17932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46788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134350" y="1314450"/>
            <a:ext cx="361950" cy="266700"/>
          </a:xfrm>
          <a:prstGeom prst="roundRect">
            <a:avLst>
              <a:gd name="adj" fmla="val 28571"/>
            </a:avLst>
          </a:prstGeom>
          <a:solidFill>
            <a:srgbClr val="467886"/>
          </a:solidFill>
          <a:ln w="9525">
            <a:solidFill>
              <a:srgbClr val="467886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134350" y="135255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1905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  <a:endParaRPr sz="10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610600" y="131445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80702"/>
          </a:bodyPr>
          <a:lstStyle/>
          <a:p>
            <a:r>
              <a:rPr sz="1800" b="1">
                <a:solidFill>
                  <a:srgbClr val="1A2742"/>
                </a:solidFill>
                <a:latin typeface="微软雅黑" panose="020B0503020204020204" charset="-122"/>
              </a:rPr>
              <a:t>完成进度</a:t>
            </a:r>
            <a:endParaRPr sz="1800" b="1">
              <a:solidFill>
                <a:srgbClr val="1A2742"/>
              </a:solidFill>
              <a:latin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172450" y="1714500"/>
            <a:ext cx="2895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4A5568"/>
                </a:solidFill>
                <a:latin typeface="微软雅黑" panose="020B0503020204020204" charset="-122"/>
              </a:rPr>
              <a:t>Cloudflare Pages 已上线，GitHub 72 次提交；知识章节、每日精选、复盘案例与交互演示均可访问</a:t>
            </a:r>
            <a:endParaRPr sz="1400">
              <a:solidFill>
                <a:srgbClr val="4A5568"/>
              </a:solidFill>
              <a:latin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623570" y="3328035"/>
            <a:ext cx="3238500" cy="1887855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96607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756920" y="3461385"/>
            <a:ext cx="361950" cy="266700"/>
          </a:xfrm>
          <a:prstGeom prst="roundRect">
            <a:avLst>
              <a:gd name="adj" fmla="val 28571"/>
            </a:avLst>
          </a:prstGeom>
          <a:solidFill>
            <a:srgbClr val="96607D"/>
          </a:solidFill>
          <a:ln w="9525">
            <a:solidFill>
              <a:srgbClr val="96607D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56920" y="349948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1905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</a:t>
            </a:r>
            <a:endParaRPr sz="10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233170" y="3461385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80702"/>
          </a:bodyPr>
          <a:lstStyle/>
          <a:p>
            <a:r>
              <a:rPr sz="1800" b="1">
                <a:solidFill>
                  <a:srgbClr val="1A2742"/>
                </a:solidFill>
                <a:latin typeface="微软雅黑" panose="020B0503020204020204" charset="-122"/>
              </a:rPr>
              <a:t>效率提升与创新</a:t>
            </a:r>
            <a:endParaRPr sz="1800" b="1">
              <a:solidFill>
                <a:srgbClr val="1A2742"/>
              </a:solidFill>
              <a:latin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95020" y="3861435"/>
            <a:ext cx="2895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4A5568"/>
                </a:solidFill>
                <a:latin typeface="微软雅黑" panose="020B0503020204020204" charset="-122"/>
              </a:rPr>
              <a:t>按 10 人周均节省 0.5h 测算，年化约 250 小时 / 31 人天；创新点：将抽象色彩与显示知识转化为可拖拽、可量化、可解释的交互式学习体验</a:t>
            </a:r>
            <a:endParaRPr sz="1400">
              <a:solidFill>
                <a:srgbClr val="4A5568"/>
              </a:solidFill>
              <a:latin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4295775" y="3295650"/>
            <a:ext cx="3238500" cy="1919605"/>
          </a:xfrm>
          <a:prstGeom prst="roundRect">
            <a:avLst>
              <a:gd name="adj" fmla="val 6061"/>
            </a:avLst>
          </a:prstGeom>
          <a:solidFill>
            <a:srgbClr val="F5F7FA"/>
          </a:solidFill>
          <a:ln w="9525">
            <a:solidFill>
              <a:srgbClr val="1A274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4429125" y="3429000"/>
            <a:ext cx="361950" cy="266700"/>
          </a:xfrm>
          <a:prstGeom prst="roundRect">
            <a:avLst>
              <a:gd name="adj" fmla="val 28571"/>
            </a:avLst>
          </a:prstGeom>
          <a:solidFill>
            <a:srgbClr val="1A2742"/>
          </a:solidFill>
          <a:ln w="9525">
            <a:solidFill>
              <a:srgbClr val="1A2742"/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429125" y="34671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1905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⑤</a:t>
            </a:r>
            <a:endParaRPr sz="10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905375" y="342900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80702"/>
          </a:bodyPr>
          <a:lstStyle/>
          <a:p>
            <a:r>
              <a:rPr sz="1800" b="1">
                <a:solidFill>
                  <a:srgbClr val="1A2742"/>
                </a:solidFill>
                <a:latin typeface="微软雅黑" panose="020B0503020204020204" charset="-122"/>
              </a:rPr>
              <a:t>可推广性</a:t>
            </a:r>
            <a:endParaRPr sz="1800" b="1">
              <a:solidFill>
                <a:srgbClr val="1A2742"/>
              </a:solidFill>
              <a:latin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467225" y="3829050"/>
            <a:ext cx="2895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4A5568"/>
                </a:solidFill>
                <a:latin typeface="微软雅黑" panose="020B0503020204020204" charset="-122"/>
              </a:rPr>
              <a:t>部门内已完成演示，反馈集中在知识框架与概念查证；具备章节模板、编辑规范、源码托管等可复制资产，下一步开展 5-10 人、30 天内部试用</a:t>
            </a:r>
            <a:endParaRPr sz="1400">
              <a:solidFill>
                <a:srgbClr val="4A5568"/>
              </a:solidFill>
              <a:latin typeface="微软雅黑" panose="020B0503020204020204" charset="-122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514350" y="5734050"/>
            <a:ext cx="11201400" cy="495300"/>
          </a:xfrm>
          <a:prstGeom prst="roundRect">
            <a:avLst>
              <a:gd name="adj" fmla="val 3846"/>
            </a:avLst>
          </a:prstGeom>
          <a:solidFill>
            <a:srgbClr val="FFF0E0"/>
          </a:solidFill>
          <a:ln w="9525">
            <a:solidFill>
              <a:srgbClr val="966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723900" y="5876925"/>
            <a:ext cx="1078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4841"/>
          </a:bodyPr>
          <a:lstStyle/>
          <a:p>
            <a:pPr algn="l">
              <a:buNone/>
              <a:defRPr sz="1390" b="1">
                <a:solidFill>
                  <a:srgbClr val="654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654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项目定位：AI贯穿知识整理、交互原型和页面迭代，专家负责标准查证与发布验收。</a:t>
            </a:r>
            <a:endParaRPr sz="1390" b="1">
              <a:solidFill>
                <a:srgbClr val="6543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Rectangle 75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" name="任意多边形: 形状 1"/>
          <p:cNvSpPr>
            <a:spLocks noGrp="1"/>
          </p:cNvSpPr>
          <p:nvPr/>
        </p:nvSpPr>
        <p:spPr>
          <a:xfrm rot="16200000">
            <a:off x="7276479" y="846551"/>
            <a:ext cx="4742354" cy="5088694"/>
          </a:xfrm>
          <a:custGeom>
            <a:avLst/>
            <a:gdLst/>
            <a:ahLst/>
            <a:cxnLst/>
            <a:rect l="l" t="t" r="r" b="b"/>
            <a:pathLst>
              <a:path w="4742354" h="5088694">
                <a:moveTo>
                  <a:pt x="4742354" y="5088694"/>
                </a:moveTo>
                <a:lnTo>
                  <a:pt x="3688656" y="5088694"/>
                </a:lnTo>
                <a:lnTo>
                  <a:pt x="2371176" y="2261300"/>
                </a:lnTo>
                <a:lnTo>
                  <a:pt x="1053696" y="5088694"/>
                </a:lnTo>
                <a:lnTo>
                  <a:pt x="0" y="5088693"/>
                </a:lnTo>
                <a:lnTo>
                  <a:pt x="2371177" y="0"/>
                </a:lnTo>
                <a:close/>
              </a:path>
            </a:pathLst>
          </a:custGeom>
          <a:gradFill rotWithShape="1">
            <a:gsLst>
              <a:gs pos="0">
                <a:srgbClr val="003591"/>
              </a:gs>
              <a:gs pos="30000">
                <a:srgbClr val="3038D6">
                  <a:alpha val="80000"/>
                </a:srgbClr>
              </a:gs>
              <a:gs pos="50000">
                <a:srgbClr val="003591">
                  <a:alpha val="40000"/>
                </a:srgbClr>
              </a:gs>
              <a:gs pos="65000">
                <a:srgbClr val="003591">
                  <a:alpha val="0"/>
                </a:srgbClr>
              </a:gs>
            </a:gsLst>
            <a:lin ang="12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3" name="任意多边形: 形状 2"/>
          <p:cNvSpPr>
            <a:spLocks noGrp="1"/>
          </p:cNvSpPr>
          <p:nvPr/>
        </p:nvSpPr>
        <p:spPr>
          <a:xfrm rot="16200000">
            <a:off x="9447330" y="1970218"/>
            <a:ext cx="2647978" cy="2841363"/>
          </a:xfrm>
          <a:custGeom>
            <a:avLst/>
            <a:gdLst/>
            <a:ahLst/>
            <a:cxnLst/>
            <a:rect l="l" t="t" r="r" b="b"/>
            <a:pathLst>
              <a:path w="2647978" h="2841363">
                <a:moveTo>
                  <a:pt x="2647978" y="2841363"/>
                </a:moveTo>
                <a:lnTo>
                  <a:pt x="1640673" y="2841363"/>
                </a:lnTo>
                <a:lnTo>
                  <a:pt x="1323989" y="2161738"/>
                </a:lnTo>
                <a:lnTo>
                  <a:pt x="1007304" y="2841363"/>
                </a:lnTo>
                <a:lnTo>
                  <a:pt x="0" y="2841363"/>
                </a:lnTo>
                <a:lnTo>
                  <a:pt x="1323989" y="0"/>
                </a:lnTo>
                <a:close/>
              </a:path>
            </a:pathLst>
          </a:custGeom>
          <a:gradFill rotWithShape="1">
            <a:gsLst>
              <a:gs pos="0">
                <a:srgbClr val="003591">
                  <a:alpha val="30000"/>
                </a:srgbClr>
              </a:gs>
              <a:gs pos="30000">
                <a:srgbClr val="3038D6">
                  <a:alpha val="20000"/>
                </a:srgbClr>
              </a:gs>
              <a:gs pos="50000">
                <a:srgbClr val="003591">
                  <a:alpha val="10000"/>
                </a:srgbClr>
              </a:gs>
              <a:gs pos="65000">
                <a:srgbClr val="003591">
                  <a:alpha val="0"/>
                </a:srgbClr>
              </a:gs>
            </a:gsLst>
            <a:lin ang="12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5" name="任意多边形: 形状 4"/>
          <p:cNvSpPr>
            <a:spLocks noGrp="1"/>
          </p:cNvSpPr>
          <p:nvPr/>
        </p:nvSpPr>
        <p:spPr>
          <a:xfrm rot="5400000" flipH="1">
            <a:off x="96694" y="1970218"/>
            <a:ext cx="2647978" cy="2841363"/>
          </a:xfrm>
          <a:custGeom>
            <a:avLst/>
            <a:gdLst/>
            <a:ahLst/>
            <a:cxnLst/>
            <a:rect l="l" t="t" r="r" b="b"/>
            <a:pathLst>
              <a:path w="2647978" h="2841363">
                <a:moveTo>
                  <a:pt x="2647978" y="2841363"/>
                </a:moveTo>
                <a:lnTo>
                  <a:pt x="1640673" y="2841363"/>
                </a:lnTo>
                <a:lnTo>
                  <a:pt x="1323989" y="2161738"/>
                </a:lnTo>
                <a:lnTo>
                  <a:pt x="1007304" y="2841363"/>
                </a:lnTo>
                <a:lnTo>
                  <a:pt x="0" y="2841363"/>
                </a:lnTo>
                <a:lnTo>
                  <a:pt x="1323989" y="0"/>
                </a:lnTo>
                <a:close/>
              </a:path>
            </a:pathLst>
          </a:custGeom>
          <a:gradFill rotWithShape="1">
            <a:gsLst>
              <a:gs pos="0">
                <a:srgbClr val="003591">
                  <a:alpha val="30000"/>
                </a:srgbClr>
              </a:gs>
              <a:gs pos="30000">
                <a:srgbClr val="3038D6">
                  <a:alpha val="20000"/>
                </a:srgbClr>
              </a:gs>
              <a:gs pos="50000">
                <a:srgbClr val="003591">
                  <a:alpha val="10000"/>
                </a:srgbClr>
              </a:gs>
              <a:gs pos="65000">
                <a:srgbClr val="003591">
                  <a:alpha val="0"/>
                </a:srgbClr>
              </a:gs>
            </a:gsLst>
            <a:lin ang="12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7" name="任意多边形: 形状 6"/>
          <p:cNvSpPr>
            <a:spLocks noGrp="1"/>
          </p:cNvSpPr>
          <p:nvPr/>
        </p:nvSpPr>
        <p:spPr>
          <a:xfrm>
            <a:off x="4316381" y="3921904"/>
            <a:ext cx="3531344" cy="544209"/>
          </a:xfrm>
          <a:custGeom>
            <a:avLst/>
            <a:gdLst/>
            <a:ahLst/>
            <a:cxnLst/>
            <a:rect l="l" t="t" r="r" b="b"/>
            <a:pathLst>
              <a:path w="3383491" h="527050">
                <a:moveTo>
                  <a:pt x="0" y="2116"/>
                </a:moveTo>
                <a:lnTo>
                  <a:pt x="1600200" y="2116"/>
                </a:lnTo>
                <a:lnTo>
                  <a:pt x="1346200" y="527050"/>
                </a:lnTo>
                <a:lnTo>
                  <a:pt x="2071158" y="0"/>
                </a:lnTo>
                <a:lnTo>
                  <a:pt x="3383491" y="0"/>
                </a:lnTo>
              </a:path>
            </a:pathLst>
          </a:custGeom>
          <a:noFill/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任意多边形: 形状 3"/>
          <p:cNvSpPr>
            <a:spLocks noGrp="1"/>
          </p:cNvSpPr>
          <p:nvPr/>
        </p:nvSpPr>
        <p:spPr>
          <a:xfrm rot="5400000" flipH="1">
            <a:off x="173171" y="846551"/>
            <a:ext cx="4742354" cy="5088694"/>
          </a:xfrm>
          <a:custGeom>
            <a:avLst/>
            <a:gdLst/>
            <a:ahLst/>
            <a:cxnLst/>
            <a:rect l="l" t="t" r="r" b="b"/>
            <a:pathLst>
              <a:path w="4742354" h="5088694">
                <a:moveTo>
                  <a:pt x="4742354" y="5088694"/>
                </a:moveTo>
                <a:lnTo>
                  <a:pt x="3688656" y="5088694"/>
                </a:lnTo>
                <a:lnTo>
                  <a:pt x="2371176" y="2261300"/>
                </a:lnTo>
                <a:lnTo>
                  <a:pt x="1053696" y="5088694"/>
                </a:lnTo>
                <a:lnTo>
                  <a:pt x="0" y="5088693"/>
                </a:lnTo>
                <a:lnTo>
                  <a:pt x="2371177" y="0"/>
                </a:lnTo>
                <a:close/>
              </a:path>
            </a:pathLst>
          </a:custGeom>
          <a:gradFill rotWithShape="1">
            <a:gsLst>
              <a:gs pos="0">
                <a:srgbClr val="003591"/>
              </a:gs>
              <a:gs pos="30000">
                <a:srgbClr val="3038D6">
                  <a:alpha val="80000"/>
                </a:srgbClr>
              </a:gs>
              <a:gs pos="50000">
                <a:srgbClr val="003591">
                  <a:alpha val="40000"/>
                </a:srgbClr>
              </a:gs>
              <a:gs pos="65000">
                <a:srgbClr val="003591">
                  <a:alpha val="0"/>
                </a:srgbClr>
              </a:gs>
            </a:gsLst>
            <a:lin ang="12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50" name="文本框 49"/>
          <p:cNvSpPr>
            <a:spLocks noGrp="1"/>
          </p:cNvSpPr>
          <p:nvPr/>
        </p:nvSpPr>
        <p:spPr>
          <a:xfrm>
            <a:off x="4344277" y="1588736"/>
            <a:ext cx="3503448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9200" spc="300">
                <a:solidFill>
                  <a:srgbClr val="003591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9200" spc="300">
              <a:solidFill>
                <a:srgbClr val="0035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453323" y="2908935"/>
            <a:ext cx="7285355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痛点匹配度——“准不准”</a:t>
            </a:r>
            <a:endParaRPr sz="4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椭圆 13"/>
          <p:cNvSpPr>
            <a:spLocks noGrp="1"/>
          </p:cNvSpPr>
          <p:nvPr/>
        </p:nvSpPr>
        <p:spPr>
          <a:xfrm>
            <a:off x="349003" y="381209"/>
            <a:ext cx="403243" cy="403243"/>
          </a:xfrm>
          <a:prstGeom prst="ellipse">
            <a:avLst/>
          </a:prstGeom>
          <a:gradFill>
            <a:gsLst>
              <a:gs pos="0">
                <a:srgbClr val="003591"/>
              </a:gs>
              <a:gs pos="52000">
                <a:srgbClr val="3038D6"/>
              </a:gs>
              <a:gs pos="100000">
                <a:srgbClr val="0035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5" name="任意多边形: 形状 14"/>
          <p:cNvSpPr>
            <a:spLocks noGrp="1"/>
          </p:cNvSpPr>
          <p:nvPr/>
        </p:nvSpPr>
        <p:spPr>
          <a:xfrm rot="13500000" flipV="1">
            <a:off x="468438" y="500645"/>
            <a:ext cx="164371" cy="164371"/>
          </a:xfrm>
          <a:custGeom>
            <a:avLst/>
            <a:gdLst/>
            <a:ahLst/>
            <a:cxnLst/>
            <a:rect l="l" t="t" r="r" b="b"/>
            <a:pathLst>
              <a:path w="581069" h="581068">
                <a:moveTo>
                  <a:pt x="0" y="684"/>
                </a:moveTo>
                <a:lnTo>
                  <a:pt x="684" y="684"/>
                </a:lnTo>
                <a:lnTo>
                  <a:pt x="684" y="0"/>
                </a:lnTo>
                <a:lnTo>
                  <a:pt x="547884" y="0"/>
                </a:lnTo>
                <a:lnTo>
                  <a:pt x="547884" y="98622"/>
                </a:lnTo>
                <a:lnTo>
                  <a:pt x="168359" y="98622"/>
                </a:lnTo>
                <a:lnTo>
                  <a:pt x="581069" y="511332"/>
                </a:lnTo>
                <a:lnTo>
                  <a:pt x="511333" y="581068"/>
                </a:lnTo>
                <a:lnTo>
                  <a:pt x="98622" y="168358"/>
                </a:lnTo>
                <a:lnTo>
                  <a:pt x="98622" y="547884"/>
                </a:lnTo>
                <a:lnTo>
                  <a:pt x="0" y="54788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1008768" y="321220"/>
            <a:ext cx="10668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gradFill>
                  <a:gsLst>
                    <a:gs pos="0">
                      <a:srgbClr val="003591"/>
                    </a:gs>
                    <a:gs pos="52000">
                      <a:srgbClr val="3038D6"/>
                    </a:gs>
                    <a:gs pos="100000">
                      <a:srgbClr val="003591"/>
                    </a:gs>
                  </a:gsLst>
                  <a:lin ang="5400000" scaled="1"/>
                </a:gradFill>
                <a:latin typeface="微软雅黑"/>
                <a:ea typeface="微软雅黑"/>
                <a:cs typeface="微软雅黑"/>
              </a:rPr>
              <a:t>痛点匹配度：画质知识不是资料少，而是链路难串</a:t>
            </a:r>
            <a:endParaRPr sz="2600" b="1">
              <a:gradFill>
                <a:gsLst>
                  <a:gs pos="0">
                    <a:srgbClr val="003591"/>
                  </a:gs>
                  <a:gs pos="52000">
                    <a:srgbClr val="3038D6"/>
                  </a:gs>
                  <a:gs pos="100000">
                    <a:srgbClr val="003591"/>
                  </a:gs>
                </a:gsLst>
                <a:lin ang="5400000" scaled="1"/>
              </a:gradFill>
              <a:latin typeface="微软雅黑"/>
              <a:ea typeface="微软雅黑"/>
              <a:cs typeface="微软雅黑"/>
            </a:endParaRPr>
          </a:p>
          <a:p>
            <a:endParaRPr sz="2600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23900" y="11049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0833"/>
          </a:bodyPr>
          <a:lstStyle/>
          <a:p>
            <a:pPr algn="l">
              <a:buNone/>
              <a:defRPr sz="1800" b="1">
                <a:solidFill>
                  <a:srgbClr val="1A27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A2742"/>
                </a:solidFill>
                <a:latin typeface="微软雅黑"/>
                <a:ea typeface="微软雅黑"/>
                <a:cs typeface="微软雅黑"/>
              </a:rPr>
              <a:t>业务痛点</a:t>
            </a:r>
            <a:endParaRPr sz="1800" b="1">
              <a:solidFill>
                <a:srgbClr val="1A27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248150" y="11049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0833"/>
          </a:bodyPr>
          <a:lstStyle/>
          <a:p>
            <a:pPr algn="l">
              <a:buNone/>
              <a:defRPr sz="1800" b="1">
                <a:solidFill>
                  <a:srgbClr val="1A27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A2742"/>
                </a:solidFill>
                <a:latin typeface="微软雅黑"/>
                <a:ea typeface="微软雅黑"/>
                <a:cs typeface="微软雅黑"/>
              </a:rPr>
              <a:t>传统学习表现</a:t>
            </a:r>
            <a:endParaRPr sz="1800" b="1">
              <a:solidFill>
                <a:srgbClr val="1A27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772400" y="11049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0833"/>
          </a:bodyPr>
          <a:lstStyle/>
          <a:p>
            <a:pPr algn="l">
              <a:buNone/>
              <a:defRPr sz="1800" b="1">
                <a:solidFill>
                  <a:srgbClr val="1A27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A2742"/>
                </a:solidFill>
                <a:latin typeface="微软雅黑"/>
                <a:ea typeface="微软雅黑"/>
                <a:cs typeface="微软雅黑"/>
              </a:rPr>
              <a:t>项目对应能力</a:t>
            </a:r>
            <a:endParaRPr sz="1800" b="1">
              <a:solidFill>
                <a:srgbClr val="1A27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47700" y="1600200"/>
            <a:ext cx="2857500" cy="838200"/>
          </a:xfrm>
          <a:prstGeom prst="roundRect">
            <a:avLst>
              <a:gd name="adj" fmla="val 9091"/>
            </a:avLst>
          </a:prstGeom>
          <a:solidFill>
            <a:srgbClr val="FDF5F5"/>
          </a:solidFill>
          <a:ln w="9525">
            <a:solidFill>
              <a:srgbClr val="E8A0A0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76300" y="1809750"/>
            <a:ext cx="91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91667"/>
          </a:bodyPr>
          <a:lstStyle/>
          <a:p>
            <a:pPr algn="l">
              <a:buNone/>
              <a:defRPr sz="1800" b="1">
                <a:solidFill>
                  <a:srgbClr val="C4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44040"/>
                </a:solidFill>
                <a:latin typeface="微软雅黑"/>
                <a:ea typeface="微软雅黑"/>
                <a:cs typeface="微软雅黑"/>
              </a:rPr>
              <a:t>术语密</a:t>
            </a:r>
            <a:endParaRPr sz="1800" b="1">
              <a:solidFill>
                <a:srgbClr val="C4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057650" y="1752600"/>
            <a:ext cx="295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/>
          </a:bodyPr>
          <a:lstStyle/>
          <a:p>
            <a:pPr algn="l">
              <a:buNone/>
              <a:defRPr sz="1275" b="0">
                <a:solidFill>
                  <a:srgbClr val="3835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83535"/>
                </a:solidFill>
                <a:latin typeface="微软雅黑"/>
                <a:ea typeface="微软雅黑"/>
                <a:cs typeface="微软雅黑"/>
              </a:rPr>
              <a:t>HDR、Log、色域、传递函数、Gain Map 等概念互相关联。</a:t>
            </a:r>
            <a:endParaRPr sz="1275" b="0">
              <a:solidFill>
                <a:srgbClr val="3835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562850" y="1600200"/>
            <a:ext cx="3333750" cy="838200"/>
          </a:xfrm>
          <a:prstGeom prst="roundRect">
            <a:avLst>
              <a:gd name="adj" fmla="val 9091"/>
            </a:avLst>
          </a:prstGeom>
          <a:solidFill>
            <a:srgbClr val="F0F7F3"/>
          </a:solidFill>
          <a:ln w="9525">
            <a:solidFill>
              <a:srgbClr val="B5D8CC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791450" y="175260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/>
          </a:bodyPr>
          <a:lstStyle/>
          <a:p>
            <a:pPr algn="l">
              <a:buNone/>
              <a:defRPr sz="1275" b="1">
                <a:solidFill>
                  <a:srgbClr val="4678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467886"/>
                </a:solidFill>
                <a:latin typeface="微软雅黑"/>
                <a:ea typeface="微软雅黑"/>
                <a:cs typeface="微软雅黑"/>
              </a:rPr>
              <a:t>按影像工作流重排知识，把概念放回拍摄、后期、显示场景。</a:t>
            </a:r>
            <a:endParaRPr sz="1275" b="1">
              <a:solidFill>
                <a:srgbClr val="4678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47700" y="2705100"/>
            <a:ext cx="2857500" cy="838200"/>
          </a:xfrm>
          <a:prstGeom prst="roundRect">
            <a:avLst>
              <a:gd name="adj" fmla="val 9091"/>
            </a:avLst>
          </a:prstGeom>
          <a:solidFill>
            <a:srgbClr val="FDF5F5"/>
          </a:solidFill>
          <a:ln w="9525">
            <a:solidFill>
              <a:srgbClr val="E8A0A0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76300" y="2914650"/>
            <a:ext cx="91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91667"/>
          </a:bodyPr>
          <a:lstStyle/>
          <a:p>
            <a:pPr algn="l">
              <a:buNone/>
              <a:defRPr sz="1800" b="1">
                <a:solidFill>
                  <a:srgbClr val="C4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44040"/>
                </a:solidFill>
                <a:latin typeface="微软雅黑"/>
                <a:ea typeface="微软雅黑"/>
                <a:cs typeface="微软雅黑"/>
              </a:rPr>
              <a:t>路径散</a:t>
            </a:r>
            <a:endParaRPr sz="1800" b="1">
              <a:solidFill>
                <a:srgbClr val="C4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057650" y="2857500"/>
            <a:ext cx="295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/>
          </a:bodyPr>
          <a:lstStyle/>
          <a:p>
            <a:pPr algn="l">
              <a:buNone/>
              <a:defRPr sz="1275" b="0">
                <a:solidFill>
                  <a:srgbClr val="3835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83535"/>
                </a:solidFill>
                <a:latin typeface="微软雅黑"/>
                <a:ea typeface="微软雅黑"/>
                <a:cs typeface="微软雅黑"/>
              </a:rPr>
              <a:t>资料分散在标准文档、论文、经验帖和临时笔记。</a:t>
            </a:r>
            <a:endParaRPr sz="1275" b="0">
              <a:solidFill>
                <a:srgbClr val="3835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562850" y="2705100"/>
            <a:ext cx="3333750" cy="838200"/>
          </a:xfrm>
          <a:prstGeom prst="roundRect">
            <a:avLst>
              <a:gd name="adj" fmla="val 9091"/>
            </a:avLst>
          </a:prstGeom>
          <a:solidFill>
            <a:srgbClr val="F0F7F3"/>
          </a:solidFill>
          <a:ln w="9525">
            <a:solidFill>
              <a:srgbClr val="B5D8CC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791450" y="285750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/>
          </a:bodyPr>
          <a:lstStyle/>
          <a:p>
            <a:pPr algn="l">
              <a:buNone/>
              <a:defRPr sz="1275" b="1">
                <a:solidFill>
                  <a:srgbClr val="4678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467886"/>
                </a:solidFill>
                <a:latin typeface="微软雅黑"/>
                <a:ea typeface="微软雅黑"/>
                <a:cs typeface="微软雅黑"/>
              </a:rPr>
              <a:t>网页统一入口，章节、每日精选、制作复盘可持续沉淀。</a:t>
            </a:r>
            <a:endParaRPr sz="1275" b="1">
              <a:solidFill>
                <a:srgbClr val="4678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647700" y="3810000"/>
            <a:ext cx="2857500" cy="838200"/>
          </a:xfrm>
          <a:prstGeom prst="roundRect">
            <a:avLst>
              <a:gd name="adj" fmla="val 9091"/>
            </a:avLst>
          </a:prstGeom>
          <a:solidFill>
            <a:srgbClr val="FDF5F5"/>
          </a:solidFill>
          <a:ln w="9525">
            <a:solidFill>
              <a:srgbClr val="E8A0A0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76300" y="4019550"/>
            <a:ext cx="91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91667"/>
          </a:bodyPr>
          <a:lstStyle/>
          <a:p>
            <a:pPr algn="l">
              <a:buNone/>
              <a:defRPr sz="1800" b="1">
                <a:solidFill>
                  <a:srgbClr val="C4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44040"/>
                </a:solidFill>
                <a:latin typeface="微软雅黑"/>
                <a:ea typeface="微软雅黑"/>
                <a:cs typeface="微软雅黑"/>
              </a:rPr>
              <a:t>实操难</a:t>
            </a:r>
            <a:endParaRPr sz="1800" b="1">
              <a:solidFill>
                <a:srgbClr val="C4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057650" y="3962400"/>
            <a:ext cx="295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/>
          </a:bodyPr>
          <a:lstStyle/>
          <a:p>
            <a:pPr algn="l">
              <a:buNone/>
              <a:defRPr sz="1275" b="0">
                <a:solidFill>
                  <a:srgbClr val="3835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83535"/>
                </a:solidFill>
                <a:latin typeface="微软雅黑"/>
                <a:ea typeface="微软雅黑"/>
                <a:cs typeface="微软雅黑"/>
              </a:rPr>
              <a:t>知道名词，但难判断画质问题对应哪条技术链。</a:t>
            </a:r>
            <a:endParaRPr sz="1275" b="0">
              <a:solidFill>
                <a:srgbClr val="3835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7562850" y="3810000"/>
            <a:ext cx="3333750" cy="838200"/>
          </a:xfrm>
          <a:prstGeom prst="roundRect">
            <a:avLst>
              <a:gd name="adj" fmla="val 9091"/>
            </a:avLst>
          </a:prstGeom>
          <a:solidFill>
            <a:srgbClr val="F0F7F3"/>
          </a:solidFill>
          <a:ln w="9525">
            <a:solidFill>
              <a:srgbClr val="B5D8CC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791450" y="396240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/>
          </a:bodyPr>
          <a:lstStyle/>
          <a:p>
            <a:pPr algn="l">
              <a:buNone/>
              <a:defRPr sz="1275" b="1">
                <a:solidFill>
                  <a:srgbClr val="4678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467886"/>
                </a:solidFill>
                <a:latin typeface="微软雅黑"/>
                <a:ea typeface="微软雅黑"/>
                <a:cs typeface="微软雅黑"/>
              </a:rPr>
              <a:t>用交互图、对比图和实战案例连接理论与调校动作。</a:t>
            </a:r>
            <a:endParaRPr sz="1275" b="1">
              <a:solidFill>
                <a:srgbClr val="4678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666750" y="4876800"/>
            <a:ext cx="10210800" cy="552450"/>
          </a:xfrm>
          <a:prstGeom prst="roundRect">
            <a:avLst>
              <a:gd name="adj" fmla="val 13793"/>
            </a:avLst>
          </a:prstGeom>
          <a:solidFill>
            <a:srgbClr val="F5F7FA"/>
          </a:solidFill>
          <a:ln w="9525">
            <a:solidFill>
              <a:srgbClr val="C5D5E8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95350" y="50292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333"/>
          </a:bodyPr>
          <a:lstStyle/>
          <a:p>
            <a:pPr algn="l">
              <a:buNone/>
              <a:defRPr sz="1500" b="1">
                <a:solidFill>
                  <a:srgbClr val="1A27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A2742"/>
                </a:solidFill>
                <a:latin typeface="微软雅黑"/>
                <a:ea typeface="微软雅黑"/>
                <a:cs typeface="微软雅黑"/>
              </a:rPr>
              <a:t>影响范围</a:t>
            </a:r>
            <a:endParaRPr sz="1500" b="1">
              <a:solidFill>
                <a:srgbClr val="1A27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2152650" y="4991100"/>
            <a:ext cx="13525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003591"/>
            </a:solidFill>
            <a:prstDash val="solid"/>
          </a:ln>
        </p:spPr>
        <p:txBody>
          <a:bodyPr/>
          <a:lstStyle/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2266950" y="504825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0035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3591"/>
                </a:solidFill>
                <a:latin typeface="微软雅黑"/>
                <a:ea typeface="微软雅黑"/>
                <a:cs typeface="微软雅黑"/>
              </a:rPr>
              <a:t>画质工程师</a:t>
            </a:r>
            <a:endParaRPr sz="1125" b="1">
              <a:solidFill>
                <a:srgbClr val="0035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3829050" y="4991100"/>
            <a:ext cx="13525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5385C5"/>
            </a:solidFill>
            <a:prstDash val="solid"/>
          </a:ln>
        </p:spPr>
        <p:txBody>
          <a:bodyPr/>
          <a:lstStyle/>
          <a:p/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3943350" y="504825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5385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385C5"/>
                </a:solidFill>
                <a:latin typeface="微软雅黑"/>
                <a:ea typeface="微软雅黑"/>
                <a:cs typeface="微软雅黑"/>
              </a:rPr>
              <a:t>新人/转岗培训</a:t>
            </a:r>
            <a:endParaRPr sz="1125" b="1">
              <a:solidFill>
                <a:srgbClr val="5385C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5505450" y="4991100"/>
            <a:ext cx="13525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467886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619750" y="504825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4678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467886"/>
                </a:solidFill>
                <a:latin typeface="微软雅黑"/>
                <a:ea typeface="微软雅黑"/>
                <a:cs typeface="微软雅黑"/>
              </a:rPr>
              <a:t>测试验证</a:t>
            </a:r>
            <a:endParaRPr sz="1125" b="1">
              <a:solidFill>
                <a:srgbClr val="4678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7181850" y="4991100"/>
            <a:ext cx="13525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966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296150" y="504825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9660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96607D"/>
                </a:solidFill>
                <a:latin typeface="微软雅黑"/>
                <a:ea typeface="微软雅黑"/>
                <a:cs typeface="微软雅黑"/>
              </a:rPr>
              <a:t>算法与平台协作</a:t>
            </a:r>
            <a:endParaRPr sz="1125" b="1">
              <a:solidFill>
                <a:srgbClr val="96607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8858250" y="4991100"/>
            <a:ext cx="13525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1A2742"/>
            </a:solidFill>
            <a:prstDash val="solid"/>
          </a:ln>
        </p:spPr>
        <p:txBody>
          <a:bodyPr/>
          <a:lstStyle/>
          <a:p/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972550" y="504825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1A27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A2742"/>
                </a:solidFill>
                <a:latin typeface="微软雅黑"/>
                <a:ea typeface="微软雅黑"/>
                <a:cs typeface="微软雅黑"/>
              </a:rPr>
              <a:t>内容制作沟通</a:t>
            </a:r>
            <a:endParaRPr sz="1125" b="1">
              <a:solidFill>
                <a:srgbClr val="1A27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514350" y="5734050"/>
            <a:ext cx="11201400" cy="495300"/>
          </a:xfrm>
          <a:prstGeom prst="roundRect">
            <a:avLst>
              <a:gd name="adj" fmla="val 3846"/>
            </a:avLst>
          </a:prstGeom>
          <a:solidFill>
            <a:srgbClr val="FFF0E0"/>
          </a:solidFill>
          <a:ln w="9525">
            <a:solidFill>
              <a:srgbClr val="966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723900" y="5876925"/>
            <a:ext cx="1078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4841"/>
          </a:bodyPr>
          <a:lstStyle/>
          <a:p>
            <a:pPr algn="l">
              <a:buNone/>
              <a:defRPr sz="1390" b="1">
                <a:solidFill>
                  <a:srgbClr val="654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B4D5A"/>
                </a:solidFill>
                <a:latin typeface="微软雅黑"/>
                <a:ea typeface="微软雅黑"/>
                <a:cs typeface="微软雅黑"/>
              </a:rPr>
              <a:t>痛点不在“找不到资料”，而在资料难以按工程链路组织——项目正好补上这一段能力缺口。</a:t>
            </a:r>
            <a:endParaRPr sz="1275" b="1">
              <a:solidFill>
                <a:srgbClr val="6B4D5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Rectangle 47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椭圆 13"/>
          <p:cNvSpPr>
            <a:spLocks noGrp="1"/>
          </p:cNvSpPr>
          <p:nvPr/>
        </p:nvSpPr>
        <p:spPr>
          <a:xfrm>
            <a:off x="349003" y="381209"/>
            <a:ext cx="403243" cy="403243"/>
          </a:xfrm>
          <a:prstGeom prst="ellipse">
            <a:avLst/>
          </a:prstGeom>
          <a:gradFill>
            <a:gsLst>
              <a:gs pos="0">
                <a:srgbClr val="003591"/>
              </a:gs>
              <a:gs pos="52000">
                <a:srgbClr val="3038D6"/>
              </a:gs>
              <a:gs pos="100000">
                <a:srgbClr val="0035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5" name="任意多边形: 形状 14"/>
          <p:cNvSpPr>
            <a:spLocks noGrp="1"/>
          </p:cNvSpPr>
          <p:nvPr/>
        </p:nvSpPr>
        <p:spPr>
          <a:xfrm rot="13500000" flipV="1">
            <a:off x="468438" y="500645"/>
            <a:ext cx="164371" cy="164371"/>
          </a:xfrm>
          <a:custGeom>
            <a:avLst/>
            <a:gdLst/>
            <a:ahLst/>
            <a:cxnLst/>
            <a:rect l="l" t="t" r="r" b="b"/>
            <a:pathLst>
              <a:path w="581069" h="581068">
                <a:moveTo>
                  <a:pt x="0" y="684"/>
                </a:moveTo>
                <a:lnTo>
                  <a:pt x="684" y="684"/>
                </a:lnTo>
                <a:lnTo>
                  <a:pt x="684" y="0"/>
                </a:lnTo>
                <a:lnTo>
                  <a:pt x="547884" y="0"/>
                </a:lnTo>
                <a:lnTo>
                  <a:pt x="547884" y="98622"/>
                </a:lnTo>
                <a:lnTo>
                  <a:pt x="168359" y="98622"/>
                </a:lnTo>
                <a:lnTo>
                  <a:pt x="581069" y="511332"/>
                </a:lnTo>
                <a:lnTo>
                  <a:pt x="511333" y="581068"/>
                </a:lnTo>
                <a:lnTo>
                  <a:pt x="98622" y="168358"/>
                </a:lnTo>
                <a:lnTo>
                  <a:pt x="98622" y="547884"/>
                </a:lnTo>
                <a:lnTo>
                  <a:pt x="0" y="54788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1008768" y="321220"/>
            <a:ext cx="10668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gradFill>
                  <a:gsLst>
                    <a:gs pos="0">
                      <a:srgbClr val="003591"/>
                    </a:gs>
                    <a:gs pos="52000">
                      <a:srgbClr val="3038D6"/>
                    </a:gs>
                    <a:gs pos="100000">
                      <a:srgbClr val="003591"/>
                    </a:gs>
                  </a:gsLst>
                  <a:lin ang="5400000" scaled="1"/>
                </a:gradFill>
                <a:latin typeface="微软雅黑"/>
                <a:ea typeface="微软雅黑"/>
                <a:cs typeface="微软雅黑"/>
              </a:rPr>
              <a:t>痛点匹配度：按真实工作流补齐理解断点</a:t>
            </a:r>
            <a:endParaRPr sz="2600" b="1">
              <a:gradFill>
                <a:gsLst>
                  <a:gs pos="0">
                    <a:srgbClr val="003591"/>
                  </a:gs>
                  <a:gs pos="52000">
                    <a:srgbClr val="3038D6"/>
                  </a:gs>
                  <a:gs pos="100000">
                    <a:srgbClr val="003591"/>
                  </a:gs>
                </a:gsLst>
                <a:lin ang="5400000" scaled="1"/>
              </a:gradFill>
              <a:latin typeface="微软雅黑"/>
              <a:ea typeface="微软雅黑"/>
              <a:cs typeface="微软雅黑"/>
            </a:endParaRPr>
          </a:p>
          <a:p>
            <a:endParaRPr sz="2600"/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1"/>
          <a:srcRect l="3785" r="3785"/>
          <a:stretch>
            <a:fillRect/>
          </a:stretch>
        </p:blipFill>
        <p:spPr>
          <a:xfrm>
            <a:off x="666750" y="1200150"/>
            <a:ext cx="4857750" cy="2819400"/>
          </a:xfrm>
          <a:prstGeom prst="roundRect">
            <a:avLst/>
          </a:prstGeom>
        </p:spPr>
      </p:pic>
      <p:sp>
        <p:nvSpPr>
          <p:cNvPr id="17" name="圆角矩形 16"/>
          <p:cNvSpPr>
            <a:spLocks noGrp="1"/>
          </p:cNvSpPr>
          <p:nvPr/>
        </p:nvSpPr>
        <p:spPr>
          <a:xfrm>
            <a:off x="5905500" y="1200150"/>
            <a:ext cx="4953000" cy="2819400"/>
          </a:xfrm>
          <a:prstGeom prst="roundRect">
            <a:avLst>
              <a:gd name="adj" fmla="val 2703"/>
            </a:avLst>
          </a:prstGeom>
          <a:solidFill>
            <a:srgbClr val="F5F7FA"/>
          </a:solidFill>
          <a:ln w="9525">
            <a:solidFill>
              <a:srgbClr val="C5D5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172200" y="1466850"/>
            <a:ext cx="2000250" cy="876300"/>
          </a:xfrm>
          <a:prstGeom prst="roundRect">
            <a:avLst>
              <a:gd name="adj" fmla="val 8696"/>
            </a:avLst>
          </a:prstGeom>
          <a:solidFill>
            <a:srgbClr val="F8F9FA"/>
          </a:solidFill>
          <a:ln w="9525">
            <a:solidFill>
              <a:srgbClr val="D5E0EF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305550" y="16002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003591"/>
          </a:solidFill>
          <a:ln w="9525">
            <a:solidFill>
              <a:srgbClr val="003591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05550" y="16478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0588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724650" y="1600200"/>
            <a:ext cx="1333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5490"/>
          </a:bodyPr>
          <a:lstStyle/>
          <a:p>
            <a:pPr algn="l">
              <a:buNone/>
              <a:defRPr sz="1275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283A"/>
                </a:solidFill>
                <a:latin typeface="微软雅黑"/>
                <a:ea typeface="微软雅黑"/>
                <a:cs typeface="微软雅黑"/>
              </a:rPr>
              <a:t>基础</a:t>
            </a:r>
            <a:endParaRPr sz="1275" b="1">
              <a:solidFill>
                <a:srgbClr val="2328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343650" y="1924050"/>
            <a:ext cx="1657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6189"/>
          </a:bodyPr>
          <a:lstStyle/>
          <a:p>
            <a:pPr algn="l">
              <a:buNone/>
              <a:defRPr sz="1090" b="0">
                <a:solidFill>
                  <a:srgbClr val="3835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383535"/>
                </a:solidFill>
                <a:latin typeface="微软雅黑"/>
                <a:ea typeface="微软雅黑"/>
                <a:cs typeface="微软雅黑"/>
              </a:rPr>
              <a:t>同色异谱、色彩管理、视觉基础</a:t>
            </a:r>
            <a:endParaRPr sz="1090" b="0">
              <a:solidFill>
                <a:srgbClr val="3835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439150" y="1466850"/>
            <a:ext cx="2000250" cy="876300"/>
          </a:xfrm>
          <a:prstGeom prst="roundRect">
            <a:avLst>
              <a:gd name="adj" fmla="val 8696"/>
            </a:avLst>
          </a:prstGeom>
          <a:solidFill>
            <a:srgbClr val="F8F9FA"/>
          </a:solidFill>
          <a:ln w="9525">
            <a:solidFill>
              <a:srgbClr val="D5E0EF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572500" y="16002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5385C5"/>
          </a:solidFill>
          <a:ln w="9525">
            <a:solidFill>
              <a:srgbClr val="5385C5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572500" y="16478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0588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91600" y="1600200"/>
            <a:ext cx="1333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5490"/>
          </a:bodyPr>
          <a:lstStyle/>
          <a:p>
            <a:pPr algn="l">
              <a:buNone/>
              <a:defRPr sz="1275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283A"/>
                </a:solidFill>
                <a:latin typeface="微软雅黑"/>
                <a:ea typeface="微软雅黑"/>
                <a:cs typeface="微软雅黑"/>
              </a:rPr>
              <a:t>拍摄</a:t>
            </a:r>
            <a:endParaRPr sz="1275" b="1">
              <a:solidFill>
                <a:srgbClr val="2328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610600" y="1924050"/>
            <a:ext cx="1657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5827"/>
          </a:bodyPr>
          <a:lstStyle/>
          <a:p>
            <a:pPr algn="l">
              <a:buNone/>
              <a:defRPr sz="1090" b="0">
                <a:solidFill>
                  <a:srgbClr val="3835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383535"/>
                </a:solidFill>
                <a:latin typeface="微软雅黑"/>
                <a:ea typeface="微软雅黑"/>
                <a:cs typeface="微软雅黑"/>
              </a:rPr>
              <a:t>相机 Log、Gamut、曝光与采集</a:t>
            </a:r>
            <a:endParaRPr sz="1090" b="0">
              <a:solidFill>
                <a:srgbClr val="3835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6172200" y="2590800"/>
            <a:ext cx="2000250" cy="876300"/>
          </a:xfrm>
          <a:prstGeom prst="roundRect">
            <a:avLst>
              <a:gd name="adj" fmla="val 8696"/>
            </a:avLst>
          </a:prstGeom>
          <a:solidFill>
            <a:srgbClr val="F8F9FA"/>
          </a:solidFill>
          <a:ln w="9525">
            <a:solidFill>
              <a:srgbClr val="D5E0EF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6305550" y="27241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96607D"/>
          </a:solidFill>
          <a:ln w="9525">
            <a:solidFill>
              <a:srgbClr val="96607D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305550" y="27717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0588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724650" y="2724150"/>
            <a:ext cx="1333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5490"/>
          </a:bodyPr>
          <a:lstStyle/>
          <a:p>
            <a:pPr algn="l">
              <a:buNone/>
              <a:defRPr sz="1275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283A"/>
                </a:solidFill>
                <a:latin typeface="微软雅黑"/>
                <a:ea typeface="微软雅黑"/>
                <a:cs typeface="微软雅黑"/>
              </a:rPr>
              <a:t>后期</a:t>
            </a:r>
            <a:endParaRPr sz="1275" b="1">
              <a:solidFill>
                <a:srgbClr val="2328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343650" y="3048000"/>
            <a:ext cx="178625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5827"/>
          </a:bodyPr>
          <a:lstStyle/>
          <a:p>
            <a:pPr algn="l">
              <a:buNone/>
              <a:defRPr sz="1090" b="0">
                <a:solidFill>
                  <a:srgbClr val="3835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383535"/>
                </a:solidFill>
                <a:latin typeface="微软雅黑"/>
                <a:ea typeface="微软雅黑"/>
                <a:cs typeface="微软雅黑"/>
              </a:rPr>
              <a:t>ACES、图片色彩管理、调色流程</a:t>
            </a:r>
            <a:endParaRPr sz="1090" b="0">
              <a:solidFill>
                <a:srgbClr val="3835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8439150" y="2590800"/>
            <a:ext cx="2000250" cy="876300"/>
          </a:xfrm>
          <a:prstGeom prst="roundRect">
            <a:avLst>
              <a:gd name="adj" fmla="val 8696"/>
            </a:avLst>
          </a:prstGeom>
          <a:solidFill>
            <a:srgbClr val="F8F9FA"/>
          </a:solidFill>
          <a:ln w="9525">
            <a:solidFill>
              <a:srgbClr val="D5E0EF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8572500" y="27241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467886"/>
          </a:solidFill>
          <a:ln w="9525">
            <a:solidFill>
              <a:srgbClr val="467886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572500" y="27717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0588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991600" y="2724150"/>
            <a:ext cx="1333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5490"/>
          </a:bodyPr>
          <a:lstStyle/>
          <a:p>
            <a:pPr algn="l">
              <a:buNone/>
              <a:defRPr sz="1275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283A"/>
                </a:solidFill>
                <a:latin typeface="微软雅黑"/>
                <a:ea typeface="微软雅黑"/>
                <a:cs typeface="微软雅黑"/>
              </a:rPr>
              <a:t>显示</a:t>
            </a:r>
            <a:endParaRPr sz="1275" b="1">
              <a:solidFill>
                <a:srgbClr val="2328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610600" y="3048000"/>
            <a:ext cx="1657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5827"/>
          </a:bodyPr>
          <a:lstStyle/>
          <a:p>
            <a:pPr algn="l">
              <a:buNone/>
              <a:defRPr sz="1090" b="0">
                <a:solidFill>
                  <a:srgbClr val="3835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383535"/>
                </a:solidFill>
                <a:latin typeface="微软雅黑"/>
                <a:ea typeface="微软雅黑"/>
                <a:cs typeface="微软雅黑"/>
              </a:rPr>
              <a:t>HDR、传递函数、Gain Map、电视显示</a:t>
            </a:r>
            <a:endParaRPr sz="1090" b="0">
              <a:solidFill>
                <a:srgbClr val="3835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666750" y="4400550"/>
            <a:ext cx="101917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5E0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33450" y="46101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3016"/>
          </a:bodyPr>
          <a:lstStyle/>
          <a:p>
            <a:pPr algn="l">
              <a:buNone/>
              <a:defRPr sz="1575" b="1">
                <a:solidFill>
                  <a:srgbClr val="1A27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A2742"/>
                </a:solidFill>
                <a:latin typeface="微软雅黑"/>
                <a:ea typeface="微软雅黑"/>
                <a:cs typeface="微软雅黑"/>
              </a:rPr>
              <a:t>典型使用闭环</a:t>
            </a:r>
            <a:endParaRPr sz="1575" b="1">
              <a:solidFill>
                <a:srgbClr val="1A27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2476500" y="4572000"/>
            <a:ext cx="106680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003591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590800" y="4629150"/>
            <a:ext cx="838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0035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3591"/>
                </a:solidFill>
                <a:latin typeface="微软雅黑"/>
                <a:ea typeface="微软雅黑"/>
                <a:cs typeface="微软雅黑"/>
              </a:rPr>
              <a:t>发现画质问题</a:t>
            </a:r>
            <a:endParaRPr sz="1125" b="1">
              <a:solidFill>
                <a:srgbClr val="0035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3790950" y="4572000"/>
            <a:ext cx="106680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5385C5"/>
            </a:solidFill>
            <a:prstDash val="solid"/>
          </a:ln>
        </p:spPr>
        <p:txBody>
          <a:bodyPr/>
          <a:lstStyle/>
          <a:p/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3905250" y="4629150"/>
            <a:ext cx="838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5385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385C5"/>
                </a:solidFill>
                <a:latin typeface="微软雅黑"/>
                <a:ea typeface="微软雅黑"/>
                <a:cs typeface="微软雅黑"/>
              </a:rPr>
              <a:t>定位技术链路</a:t>
            </a:r>
            <a:endParaRPr sz="1125" b="1">
              <a:solidFill>
                <a:srgbClr val="5385C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5105400" y="4572000"/>
            <a:ext cx="106680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467886"/>
            </a:solidFill>
            <a:prstDash val="solid"/>
          </a:ln>
        </p:spPr>
        <p:txBody>
          <a:bodyPr/>
          <a:lstStyle/>
          <a:p/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219700" y="4629150"/>
            <a:ext cx="838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4678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467886"/>
                </a:solidFill>
                <a:latin typeface="微软雅黑"/>
                <a:ea typeface="微软雅黑"/>
                <a:cs typeface="微软雅黑"/>
              </a:rPr>
              <a:t>查章节与标准</a:t>
            </a:r>
            <a:endParaRPr sz="1125" b="1">
              <a:solidFill>
                <a:srgbClr val="4678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6419850" y="4572000"/>
            <a:ext cx="106680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966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534150" y="4629150"/>
            <a:ext cx="838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9660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96607D"/>
                </a:solidFill>
                <a:latin typeface="微软雅黑"/>
                <a:ea typeface="微软雅黑"/>
                <a:cs typeface="微软雅黑"/>
              </a:rPr>
              <a:t>交互页面验证</a:t>
            </a:r>
            <a:endParaRPr sz="1125" b="1">
              <a:solidFill>
                <a:srgbClr val="96607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7734300" y="4572000"/>
            <a:ext cx="106680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003591"/>
            </a:solidFill>
            <a:prstDash val="solid"/>
          </a:ln>
        </p:spPr>
        <p:txBody>
          <a:bodyPr/>
          <a:lstStyle/>
          <a:p/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848600" y="4629150"/>
            <a:ext cx="838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0035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3591"/>
                </a:solidFill>
                <a:latin typeface="微软雅黑"/>
                <a:ea typeface="微软雅黑"/>
                <a:cs typeface="微软雅黑"/>
              </a:rPr>
              <a:t>统一协作口径</a:t>
            </a:r>
            <a:endParaRPr sz="1125" b="1">
              <a:solidFill>
                <a:srgbClr val="0035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9048750" y="4572000"/>
            <a:ext cx="106680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467886"/>
            </a:solidFill>
            <a:prstDash val="solid"/>
          </a:ln>
        </p:spPr>
        <p:txBody>
          <a:bodyPr/>
          <a:lstStyle/>
          <a:p/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9163050" y="4629150"/>
            <a:ext cx="838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4678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467886"/>
                </a:solidFill>
                <a:latin typeface="微软雅黑"/>
                <a:ea typeface="微软雅黑"/>
                <a:cs typeface="微软雅黑"/>
              </a:rPr>
              <a:t>沉淀案例复盘</a:t>
            </a:r>
            <a:endParaRPr sz="1125" b="1">
              <a:solidFill>
                <a:srgbClr val="4678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514350" y="5734050"/>
            <a:ext cx="11201400" cy="495300"/>
          </a:xfrm>
          <a:prstGeom prst="roundRect">
            <a:avLst>
              <a:gd name="adj" fmla="val 3846"/>
            </a:avLst>
          </a:prstGeom>
          <a:solidFill>
            <a:srgbClr val="FFF0E0"/>
          </a:solidFill>
          <a:ln w="9525">
            <a:solidFill>
              <a:srgbClr val="96607D"/>
            </a:solidFill>
            <a:prstDash val="solid"/>
          </a:ln>
        </p:spPr>
        <p:txBody>
          <a:bodyPr/>
          <a:lstStyle/>
          <a:p/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723900" y="5876925"/>
            <a:ext cx="1078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4841"/>
          </a:bodyPr>
          <a:lstStyle/>
          <a:p>
            <a:pPr algn="l">
              <a:buNone/>
              <a:defRPr sz="1390" b="1">
                <a:solidFill>
                  <a:srgbClr val="654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654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章节按真实工作链路组织，让知识从“知道名词”走到“能定位、能验证、能沟通”。</a:t>
            </a:r>
            <a:endParaRPr sz="1390" b="1">
              <a:solidFill>
                <a:srgbClr val="6543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ectangle 57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" name="任意多边形: 形状 1"/>
          <p:cNvSpPr>
            <a:spLocks noGrp="1"/>
          </p:cNvSpPr>
          <p:nvPr/>
        </p:nvSpPr>
        <p:spPr>
          <a:xfrm rot="16200000">
            <a:off x="7276479" y="846551"/>
            <a:ext cx="4742354" cy="5088694"/>
          </a:xfrm>
          <a:custGeom>
            <a:avLst/>
            <a:gdLst/>
            <a:ahLst/>
            <a:cxnLst/>
            <a:rect l="l" t="t" r="r" b="b"/>
            <a:pathLst>
              <a:path w="4742354" h="5088694">
                <a:moveTo>
                  <a:pt x="4742354" y="5088694"/>
                </a:moveTo>
                <a:lnTo>
                  <a:pt x="3688656" y="5088694"/>
                </a:lnTo>
                <a:lnTo>
                  <a:pt x="2371176" y="2261300"/>
                </a:lnTo>
                <a:lnTo>
                  <a:pt x="1053696" y="5088694"/>
                </a:lnTo>
                <a:lnTo>
                  <a:pt x="0" y="5088693"/>
                </a:lnTo>
                <a:lnTo>
                  <a:pt x="2371177" y="0"/>
                </a:lnTo>
                <a:close/>
              </a:path>
            </a:pathLst>
          </a:custGeom>
          <a:gradFill rotWithShape="1">
            <a:gsLst>
              <a:gs pos="0">
                <a:srgbClr val="003591"/>
              </a:gs>
              <a:gs pos="30000">
                <a:srgbClr val="3038D6">
                  <a:alpha val="80000"/>
                </a:srgbClr>
              </a:gs>
              <a:gs pos="50000">
                <a:srgbClr val="003591">
                  <a:alpha val="40000"/>
                </a:srgbClr>
              </a:gs>
              <a:gs pos="65000">
                <a:srgbClr val="003591">
                  <a:alpha val="0"/>
                </a:srgbClr>
              </a:gs>
            </a:gsLst>
            <a:lin ang="12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3" name="任意多边形: 形状 2"/>
          <p:cNvSpPr>
            <a:spLocks noGrp="1"/>
          </p:cNvSpPr>
          <p:nvPr/>
        </p:nvSpPr>
        <p:spPr>
          <a:xfrm rot="16200000">
            <a:off x="9447330" y="1970218"/>
            <a:ext cx="2647978" cy="2841363"/>
          </a:xfrm>
          <a:custGeom>
            <a:avLst/>
            <a:gdLst/>
            <a:ahLst/>
            <a:cxnLst/>
            <a:rect l="l" t="t" r="r" b="b"/>
            <a:pathLst>
              <a:path w="2647978" h="2841363">
                <a:moveTo>
                  <a:pt x="2647978" y="2841363"/>
                </a:moveTo>
                <a:lnTo>
                  <a:pt x="1640673" y="2841363"/>
                </a:lnTo>
                <a:lnTo>
                  <a:pt x="1323989" y="2161738"/>
                </a:lnTo>
                <a:lnTo>
                  <a:pt x="1007304" y="2841363"/>
                </a:lnTo>
                <a:lnTo>
                  <a:pt x="0" y="2841363"/>
                </a:lnTo>
                <a:lnTo>
                  <a:pt x="1323989" y="0"/>
                </a:lnTo>
                <a:close/>
              </a:path>
            </a:pathLst>
          </a:custGeom>
          <a:gradFill rotWithShape="1">
            <a:gsLst>
              <a:gs pos="0">
                <a:srgbClr val="003591">
                  <a:alpha val="30000"/>
                </a:srgbClr>
              </a:gs>
              <a:gs pos="30000">
                <a:srgbClr val="3038D6">
                  <a:alpha val="20000"/>
                </a:srgbClr>
              </a:gs>
              <a:gs pos="50000">
                <a:srgbClr val="003591">
                  <a:alpha val="10000"/>
                </a:srgbClr>
              </a:gs>
              <a:gs pos="65000">
                <a:srgbClr val="003591">
                  <a:alpha val="0"/>
                </a:srgbClr>
              </a:gs>
            </a:gsLst>
            <a:lin ang="12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5" name="任意多边形: 形状 4"/>
          <p:cNvSpPr>
            <a:spLocks noGrp="1"/>
          </p:cNvSpPr>
          <p:nvPr/>
        </p:nvSpPr>
        <p:spPr>
          <a:xfrm rot="5400000" flipH="1">
            <a:off x="96694" y="1970218"/>
            <a:ext cx="2647978" cy="2841363"/>
          </a:xfrm>
          <a:custGeom>
            <a:avLst/>
            <a:gdLst/>
            <a:ahLst/>
            <a:cxnLst/>
            <a:rect l="l" t="t" r="r" b="b"/>
            <a:pathLst>
              <a:path w="2647978" h="2841363">
                <a:moveTo>
                  <a:pt x="2647978" y="2841363"/>
                </a:moveTo>
                <a:lnTo>
                  <a:pt x="1640673" y="2841363"/>
                </a:lnTo>
                <a:lnTo>
                  <a:pt x="1323989" y="2161738"/>
                </a:lnTo>
                <a:lnTo>
                  <a:pt x="1007304" y="2841363"/>
                </a:lnTo>
                <a:lnTo>
                  <a:pt x="0" y="2841363"/>
                </a:lnTo>
                <a:lnTo>
                  <a:pt x="1323989" y="0"/>
                </a:lnTo>
                <a:close/>
              </a:path>
            </a:pathLst>
          </a:custGeom>
          <a:gradFill rotWithShape="1">
            <a:gsLst>
              <a:gs pos="0">
                <a:srgbClr val="003591">
                  <a:alpha val="30000"/>
                </a:srgbClr>
              </a:gs>
              <a:gs pos="30000">
                <a:srgbClr val="3038D6">
                  <a:alpha val="20000"/>
                </a:srgbClr>
              </a:gs>
              <a:gs pos="50000">
                <a:srgbClr val="003591">
                  <a:alpha val="10000"/>
                </a:srgbClr>
              </a:gs>
              <a:gs pos="65000">
                <a:srgbClr val="003591">
                  <a:alpha val="0"/>
                </a:srgbClr>
              </a:gs>
            </a:gsLst>
            <a:lin ang="12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7" name="任意多边形: 形状 6"/>
          <p:cNvSpPr>
            <a:spLocks noGrp="1"/>
          </p:cNvSpPr>
          <p:nvPr/>
        </p:nvSpPr>
        <p:spPr>
          <a:xfrm>
            <a:off x="4316381" y="3921904"/>
            <a:ext cx="3531344" cy="544209"/>
          </a:xfrm>
          <a:custGeom>
            <a:avLst/>
            <a:gdLst/>
            <a:ahLst/>
            <a:cxnLst/>
            <a:rect l="l" t="t" r="r" b="b"/>
            <a:pathLst>
              <a:path w="3383491" h="527050">
                <a:moveTo>
                  <a:pt x="0" y="2116"/>
                </a:moveTo>
                <a:lnTo>
                  <a:pt x="1600200" y="2116"/>
                </a:lnTo>
                <a:lnTo>
                  <a:pt x="1346200" y="527050"/>
                </a:lnTo>
                <a:lnTo>
                  <a:pt x="2071158" y="0"/>
                </a:lnTo>
                <a:lnTo>
                  <a:pt x="3383491" y="0"/>
                </a:lnTo>
              </a:path>
            </a:pathLst>
          </a:custGeom>
          <a:noFill/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任意多边形: 形状 3"/>
          <p:cNvSpPr>
            <a:spLocks noGrp="1"/>
          </p:cNvSpPr>
          <p:nvPr/>
        </p:nvSpPr>
        <p:spPr>
          <a:xfrm rot="5400000" flipH="1">
            <a:off x="173171" y="846551"/>
            <a:ext cx="4742354" cy="5088694"/>
          </a:xfrm>
          <a:custGeom>
            <a:avLst/>
            <a:gdLst/>
            <a:ahLst/>
            <a:cxnLst/>
            <a:rect l="l" t="t" r="r" b="b"/>
            <a:pathLst>
              <a:path w="4742354" h="5088694">
                <a:moveTo>
                  <a:pt x="4742354" y="5088694"/>
                </a:moveTo>
                <a:lnTo>
                  <a:pt x="3688656" y="5088694"/>
                </a:lnTo>
                <a:lnTo>
                  <a:pt x="2371176" y="2261300"/>
                </a:lnTo>
                <a:lnTo>
                  <a:pt x="1053696" y="5088694"/>
                </a:lnTo>
                <a:lnTo>
                  <a:pt x="0" y="5088693"/>
                </a:lnTo>
                <a:lnTo>
                  <a:pt x="2371177" y="0"/>
                </a:lnTo>
                <a:close/>
              </a:path>
            </a:pathLst>
          </a:custGeom>
          <a:gradFill rotWithShape="1">
            <a:gsLst>
              <a:gs pos="0">
                <a:srgbClr val="003591"/>
              </a:gs>
              <a:gs pos="30000">
                <a:srgbClr val="3038D6">
                  <a:alpha val="80000"/>
                </a:srgbClr>
              </a:gs>
              <a:gs pos="50000">
                <a:srgbClr val="003591">
                  <a:alpha val="40000"/>
                </a:srgbClr>
              </a:gs>
              <a:gs pos="65000">
                <a:srgbClr val="003591">
                  <a:alpha val="0"/>
                </a:srgbClr>
              </a:gs>
            </a:gsLst>
            <a:lin ang="12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50" name="文本框 49"/>
          <p:cNvSpPr>
            <a:spLocks noGrp="1"/>
          </p:cNvSpPr>
          <p:nvPr/>
        </p:nvSpPr>
        <p:spPr>
          <a:xfrm>
            <a:off x="4344277" y="1588736"/>
            <a:ext cx="3503448" cy="150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9200" spc="300">
                <a:solidFill>
                  <a:srgbClr val="003591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9200" spc="300">
              <a:solidFill>
                <a:srgbClr val="0035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453323" y="2908935"/>
            <a:ext cx="7285355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落地完成度——“行不行”</a:t>
            </a:r>
            <a:endParaRPr sz="4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椭圆 13"/>
          <p:cNvSpPr>
            <a:spLocks noGrp="1"/>
          </p:cNvSpPr>
          <p:nvPr/>
        </p:nvSpPr>
        <p:spPr>
          <a:xfrm>
            <a:off x="349003" y="381209"/>
            <a:ext cx="403243" cy="403243"/>
          </a:xfrm>
          <a:prstGeom prst="ellipse">
            <a:avLst/>
          </a:prstGeom>
          <a:gradFill>
            <a:gsLst>
              <a:gs pos="0">
                <a:srgbClr val="003591"/>
              </a:gs>
              <a:gs pos="52000">
                <a:srgbClr val="3038D6"/>
              </a:gs>
              <a:gs pos="100000">
                <a:srgbClr val="0035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5" name="任意多边形: 形状 14"/>
          <p:cNvSpPr>
            <a:spLocks noGrp="1"/>
          </p:cNvSpPr>
          <p:nvPr/>
        </p:nvSpPr>
        <p:spPr>
          <a:xfrm rot="13500000" flipV="1">
            <a:off x="468438" y="500645"/>
            <a:ext cx="164371" cy="164371"/>
          </a:xfrm>
          <a:custGeom>
            <a:avLst/>
            <a:gdLst/>
            <a:ahLst/>
            <a:cxnLst/>
            <a:rect l="l" t="t" r="r" b="b"/>
            <a:pathLst>
              <a:path w="581069" h="581068">
                <a:moveTo>
                  <a:pt x="0" y="684"/>
                </a:moveTo>
                <a:lnTo>
                  <a:pt x="684" y="684"/>
                </a:lnTo>
                <a:lnTo>
                  <a:pt x="684" y="0"/>
                </a:lnTo>
                <a:lnTo>
                  <a:pt x="547884" y="0"/>
                </a:lnTo>
                <a:lnTo>
                  <a:pt x="547884" y="98622"/>
                </a:lnTo>
                <a:lnTo>
                  <a:pt x="168359" y="98622"/>
                </a:lnTo>
                <a:lnTo>
                  <a:pt x="581069" y="511332"/>
                </a:lnTo>
                <a:lnTo>
                  <a:pt x="511333" y="581068"/>
                </a:lnTo>
                <a:lnTo>
                  <a:pt x="98622" y="168358"/>
                </a:lnTo>
                <a:lnTo>
                  <a:pt x="98622" y="547884"/>
                </a:lnTo>
                <a:lnTo>
                  <a:pt x="0" y="54788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1008768" y="321220"/>
            <a:ext cx="10668000" cy="883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gradFill>
                  <a:gsLst>
                    <a:gs pos="0">
                      <a:srgbClr val="003591"/>
                    </a:gs>
                    <a:gs pos="52000">
                      <a:srgbClr val="3038D6"/>
                    </a:gs>
                    <a:gs pos="100000">
                      <a:srgbClr val="003591"/>
                    </a:gs>
                  </a:gsLst>
                  <a:lin ang="5400000" scaled="1"/>
                </a:gradFill>
                <a:latin typeface="微软雅黑"/>
                <a:ea typeface="微软雅黑"/>
                <a:cs typeface="微软雅黑"/>
              </a:rPr>
              <a:t>落地完成度：源码、部署、登录和内容都已跑通</a:t>
            </a:r>
            <a:endParaRPr sz="2600" b="1">
              <a:gradFill>
                <a:gsLst>
                  <a:gs pos="0">
                    <a:srgbClr val="003591"/>
                  </a:gs>
                  <a:gs pos="52000">
                    <a:srgbClr val="3038D6"/>
                  </a:gs>
                  <a:gs pos="100000">
                    <a:srgbClr val="003591"/>
                  </a:gs>
                </a:gsLst>
                <a:lin ang="5400000" scaled="1"/>
              </a:gradFill>
              <a:latin typeface="微软雅黑"/>
              <a:ea typeface="微软雅黑"/>
              <a:cs typeface="微软雅黑"/>
            </a:endParaRPr>
          </a:p>
          <a:p>
            <a:endParaRPr sz="2600" b="1">
              <a:gradFill>
                <a:gsLst>
                  <a:gs pos="0">
                    <a:srgbClr val="003591"/>
                  </a:gs>
                  <a:gs pos="52000">
                    <a:srgbClr val="3038D6"/>
                  </a:gs>
                  <a:gs pos="100000">
                    <a:srgbClr val="003591"/>
                  </a:gs>
                </a:gsLst>
                <a:lin ang="5400000" scaled="1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66750" y="1314450"/>
            <a:ext cx="1885950" cy="1200150"/>
          </a:xfrm>
          <a:prstGeom prst="roundRect">
            <a:avLst>
              <a:gd name="adj" fmla="val 6349"/>
            </a:avLst>
          </a:prstGeom>
          <a:solidFill>
            <a:srgbClr val="F8F9FA"/>
          </a:solidFill>
          <a:ln w="9525">
            <a:solidFill>
              <a:srgbClr val="D5E0EF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0100" y="14478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003591"/>
          </a:solidFill>
          <a:ln w="9525">
            <a:solidFill>
              <a:srgbClr val="003591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0100" y="14954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0588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219200" y="1447800"/>
            <a:ext cx="1219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5490"/>
          </a:bodyPr>
          <a:lstStyle/>
          <a:p>
            <a:pPr algn="l">
              <a:buNone/>
              <a:defRPr sz="1275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283A"/>
                </a:solidFill>
                <a:latin typeface="微软雅黑"/>
                <a:ea typeface="微软雅黑"/>
                <a:cs typeface="微软雅黑"/>
              </a:rPr>
              <a:t>源码托管</a:t>
            </a:r>
            <a:endParaRPr sz="1275" b="1">
              <a:solidFill>
                <a:srgbClr val="2328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38200" y="1771650"/>
            <a:ext cx="1543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94319"/>
          </a:bodyPr>
          <a:lstStyle/>
          <a:p>
            <a:pPr algn="l">
              <a:buNone/>
              <a:def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GitHub管理源码、资料和页面资产。</a:t>
            </a:r>
            <a:endParaRPr sz="1350" b="0">
              <a:solidFill>
                <a:srgbClr val="4754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2809875" y="1314450"/>
            <a:ext cx="1885950" cy="1200150"/>
          </a:xfrm>
          <a:prstGeom prst="roundRect">
            <a:avLst>
              <a:gd name="adj" fmla="val 6349"/>
            </a:avLst>
          </a:prstGeom>
          <a:solidFill>
            <a:srgbClr val="F8F9FA"/>
          </a:solidFill>
          <a:ln w="9525">
            <a:solidFill>
              <a:srgbClr val="D5E0EF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2943225" y="14478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5385C5"/>
          </a:solidFill>
          <a:ln w="9525">
            <a:solidFill>
              <a:srgbClr val="5385C5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943225" y="14954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0588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362325" y="1447800"/>
            <a:ext cx="1219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5490"/>
          </a:bodyPr>
          <a:lstStyle/>
          <a:p>
            <a:pPr algn="l">
              <a:buNone/>
              <a:defRPr sz="1275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283A"/>
                </a:solidFill>
                <a:latin typeface="微软雅黑"/>
                <a:ea typeface="微软雅黑"/>
                <a:cs typeface="微软雅黑"/>
              </a:rPr>
              <a:t>持续迭代</a:t>
            </a:r>
            <a:endParaRPr sz="1275" b="1">
              <a:solidFill>
                <a:srgbClr val="2328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865120" y="1771650"/>
            <a:ext cx="188658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lnSpcReduction="20000"/>
          </a:bodyPr>
          <a:lstStyle/>
          <a:p>
            <a:pPr algn="l">
              <a:buNone/>
              <a:def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当前仓库72次提交，并已形成编辑规范。</a:t>
            </a:r>
            <a:endParaRPr sz="1350" b="0">
              <a:solidFill>
                <a:srgbClr val="4754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4953000" y="1314450"/>
            <a:ext cx="1885950" cy="1200150"/>
          </a:xfrm>
          <a:prstGeom prst="roundRect">
            <a:avLst>
              <a:gd name="adj" fmla="val 6349"/>
            </a:avLst>
          </a:prstGeom>
          <a:solidFill>
            <a:srgbClr val="F8F9FA"/>
          </a:solidFill>
          <a:ln w="9525">
            <a:solidFill>
              <a:srgbClr val="D5E0EF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5086350" y="14478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467886"/>
          </a:solidFill>
          <a:ln w="9525">
            <a:solidFill>
              <a:srgbClr val="467886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086350" y="14954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0588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05450" y="1447800"/>
            <a:ext cx="1219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5490"/>
          </a:bodyPr>
          <a:lstStyle/>
          <a:p>
            <a:pPr algn="l">
              <a:buNone/>
              <a:defRPr sz="1275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283A"/>
                </a:solidFill>
                <a:latin typeface="微软雅黑"/>
                <a:ea typeface="微软雅黑"/>
                <a:cs typeface="微软雅黑"/>
              </a:rPr>
              <a:t>静态部署</a:t>
            </a:r>
            <a:endParaRPr sz="1275" b="1">
              <a:solidFill>
                <a:srgbClr val="2328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124450" y="1771650"/>
            <a:ext cx="1543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93210"/>
          </a:bodyPr>
          <a:lstStyle/>
          <a:p>
            <a:pPr algn="l">
              <a:buNone/>
              <a:def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Cloudflare Pages发布，维护成本低。</a:t>
            </a:r>
            <a:endParaRPr sz="1350" b="0">
              <a:solidFill>
                <a:srgbClr val="4754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7096125" y="1314450"/>
            <a:ext cx="1885950" cy="1200150"/>
          </a:xfrm>
          <a:prstGeom prst="roundRect">
            <a:avLst>
              <a:gd name="adj" fmla="val 6349"/>
            </a:avLst>
          </a:prstGeom>
          <a:solidFill>
            <a:srgbClr val="F8F9FA"/>
          </a:solidFill>
          <a:ln w="9525">
            <a:solidFill>
              <a:srgbClr val="D5E0EF"/>
            </a:solidFill>
            <a:prstDash val="solid"/>
          </a:ln>
        </p:spPr>
        <p:txBody>
          <a:bodyPr/>
          <a:lstStyle/>
          <a:p/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7229475" y="14478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96607D"/>
          </a:solidFill>
          <a:ln w="9525">
            <a:solidFill>
              <a:srgbClr val="96607D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229475" y="14954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0588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648575" y="1447800"/>
            <a:ext cx="1219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5490"/>
          </a:bodyPr>
          <a:lstStyle/>
          <a:p>
            <a:pPr algn="l">
              <a:buNone/>
              <a:defRPr sz="1275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283A"/>
                </a:solidFill>
                <a:latin typeface="微软雅黑"/>
                <a:ea typeface="微软雅黑"/>
                <a:cs typeface="微软雅黑"/>
              </a:rPr>
              <a:t>登录保护</a:t>
            </a:r>
            <a:endParaRPr sz="1275" b="1">
              <a:solidFill>
                <a:srgbClr val="2328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267575" y="1771650"/>
            <a:ext cx="1543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93210"/>
          </a:bodyPr>
          <a:lstStyle/>
          <a:p>
            <a:pPr algn="l">
              <a:buNone/>
              <a:def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公司邮箱验证码登录，适合内部沉淀。</a:t>
            </a:r>
            <a:endParaRPr sz="1350" b="0">
              <a:solidFill>
                <a:srgbClr val="4754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9239250" y="1314450"/>
            <a:ext cx="1885950" cy="1200150"/>
          </a:xfrm>
          <a:prstGeom prst="roundRect">
            <a:avLst>
              <a:gd name="adj" fmla="val 6349"/>
            </a:avLst>
          </a:prstGeom>
          <a:solidFill>
            <a:srgbClr val="F8F9FA"/>
          </a:solidFill>
          <a:ln w="9525">
            <a:solidFill>
              <a:srgbClr val="D5E0EF"/>
            </a:solidFill>
            <a:prstDash val="solid"/>
          </a:ln>
        </p:spPr>
        <p:txBody>
          <a:bodyPr/>
          <a:lstStyle/>
          <a:p/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9372600" y="14478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A2742"/>
          </a:solidFill>
          <a:ln w="9525">
            <a:solidFill>
              <a:srgbClr val="1A2742"/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372600" y="14954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0588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791700" y="1447800"/>
            <a:ext cx="1219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5490"/>
          </a:bodyPr>
          <a:lstStyle/>
          <a:p>
            <a:pPr algn="l">
              <a:buNone/>
              <a:defRPr sz="1275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283A"/>
                </a:solidFill>
                <a:latin typeface="微软雅黑"/>
                <a:ea typeface="微软雅黑"/>
                <a:cs typeface="微软雅黑"/>
              </a:rPr>
              <a:t>内容闭环</a:t>
            </a:r>
            <a:endParaRPr sz="1275" b="1">
              <a:solidFill>
                <a:srgbClr val="2328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410700" y="1771650"/>
            <a:ext cx="1543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93210"/>
          </a:bodyPr>
          <a:lstStyle/>
          <a:p>
            <a:pPr algn="l">
              <a:buNone/>
              <a:def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章节、精选、复盘和演示页均可访问。</a:t>
            </a:r>
            <a:endParaRPr sz="1350" b="0">
              <a:solidFill>
                <a:srgbClr val="4754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742950" y="2952750"/>
            <a:ext cx="4953000" cy="21717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C5D5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/>
        </p:txBody>
      </p:sp>
      <p:pic>
        <p:nvPicPr>
          <p:cNvPr id="125" name="图片 124"/>
          <p:cNvPicPr>
            <a:picLocks noChangeAspect="1"/>
          </p:cNvPicPr>
          <p:nvPr/>
        </p:nvPicPr>
        <p:blipFill>
          <a:blip r:embed="rId1"/>
          <a:srcRect t="19558" b="19558"/>
          <a:stretch>
            <a:fillRect/>
          </a:stretch>
        </p:blipFill>
        <p:spPr>
          <a:xfrm>
            <a:off x="857250" y="3067050"/>
            <a:ext cx="4724400" cy="1543050"/>
          </a:xfrm>
          <a:prstGeom prst="roundRect">
            <a:avLst/>
          </a:prstGeom>
        </p:spPr>
      </p:pic>
      <p:sp>
        <p:nvSpPr>
          <p:cNvPr id="43" name="矩形 42"/>
          <p:cNvSpPr>
            <a:spLocks noGrp="1"/>
          </p:cNvSpPr>
          <p:nvPr/>
        </p:nvSpPr>
        <p:spPr>
          <a:xfrm>
            <a:off x="1047750" y="4743450"/>
            <a:ext cx="434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1A27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A2742"/>
                </a:solidFill>
                <a:latin typeface="微软雅黑"/>
                <a:ea typeface="微软雅黑"/>
                <a:cs typeface="微软雅黑"/>
              </a:rPr>
              <a:t>GitHub 截图：仓库、提交、目录和多人贡献可见</a:t>
            </a:r>
            <a:endParaRPr sz="1125" b="1">
              <a:solidFill>
                <a:srgbClr val="1A27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5810250" y="2990850"/>
            <a:ext cx="48387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5E0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076950" y="31813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9697"/>
          </a:bodyPr>
          <a:lstStyle/>
          <a:p>
            <a:pPr algn="l">
              <a:buNone/>
              <a:defRPr sz="1650" b="1">
                <a:solidFill>
                  <a:srgbClr val="1A27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A2742"/>
                </a:solidFill>
                <a:latin typeface="微软雅黑"/>
                <a:ea typeface="微软雅黑"/>
                <a:cs typeface="微软雅黑"/>
              </a:rPr>
              <a:t>已完成模块清单</a:t>
            </a:r>
            <a:endParaRPr sz="1650" b="1">
              <a:solidFill>
                <a:srgbClr val="1A27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6076950" y="3619500"/>
            <a:ext cx="9334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003591"/>
            </a:solidFill>
            <a:prstDash val="solid"/>
          </a:ln>
        </p:spPr>
        <p:txBody>
          <a:bodyPr/>
          <a:lstStyle/>
          <a:p/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191250" y="3676650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0035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3591"/>
                </a:solidFill>
                <a:latin typeface="微软雅黑"/>
                <a:ea typeface="微软雅黑"/>
                <a:cs typeface="微软雅黑"/>
              </a:rPr>
              <a:t>同色异谱</a:t>
            </a:r>
            <a:endParaRPr sz="1125" b="1">
              <a:solidFill>
                <a:srgbClr val="0035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7181850" y="3619500"/>
            <a:ext cx="9334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5385C5"/>
            </a:solidFill>
            <a:prstDash val="solid"/>
          </a:ln>
        </p:spPr>
        <p:txBody>
          <a:bodyPr/>
          <a:lstStyle/>
          <a:p/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296150" y="3676650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5385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385C5"/>
                </a:solidFill>
                <a:latin typeface="微软雅黑"/>
                <a:ea typeface="微软雅黑"/>
                <a:cs typeface="微软雅黑"/>
              </a:rPr>
              <a:t>相机 Log</a:t>
            </a:r>
            <a:endParaRPr sz="1125" b="1">
              <a:solidFill>
                <a:srgbClr val="5385C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8286750" y="3619500"/>
            <a:ext cx="9334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467886"/>
            </a:solidFill>
            <a:prstDash val="solid"/>
          </a:ln>
        </p:spPr>
        <p:txBody>
          <a:bodyPr/>
          <a:lstStyle/>
          <a:p/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401050" y="3676650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44050"/>
          </a:bodyPr>
          <a:lstStyle/>
          <a:p>
            <a:pPr algn="ctr">
              <a:buNone/>
              <a:defRPr sz="1125" b="1">
                <a:solidFill>
                  <a:srgbClr val="4678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467886"/>
                </a:solidFill>
                <a:latin typeface="微软雅黑"/>
                <a:ea typeface="微软雅黑"/>
                <a:cs typeface="微软雅黑"/>
              </a:rPr>
              <a:t>Scene vs Display</a:t>
            </a:r>
            <a:endParaRPr sz="1125" b="1">
              <a:solidFill>
                <a:srgbClr val="4678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9391650" y="3619500"/>
            <a:ext cx="9334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96607D"/>
            </a:solidFill>
            <a:prstDash val="solid"/>
          </a:ln>
        </p:spPr>
        <p:txBody>
          <a:bodyPr/>
          <a:lstStyle/>
          <a:p/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9505950" y="3676650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9660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96607D"/>
                </a:solidFill>
                <a:latin typeface="微软雅黑"/>
                <a:ea typeface="微软雅黑"/>
                <a:cs typeface="微软雅黑"/>
              </a:rPr>
              <a:t>每日精选</a:t>
            </a:r>
            <a:endParaRPr sz="1125" b="1">
              <a:solidFill>
                <a:srgbClr val="96607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6076950" y="4114800"/>
            <a:ext cx="9334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003591"/>
            </a:solidFill>
            <a:prstDash val="solid"/>
          </a:ln>
        </p:spPr>
        <p:txBody>
          <a:bodyPr/>
          <a:lstStyle/>
          <a:p/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6191250" y="4171950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0035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3591"/>
                </a:solidFill>
                <a:latin typeface="微软雅黑"/>
                <a:ea typeface="微软雅黑"/>
                <a:cs typeface="微软雅黑"/>
              </a:rPr>
              <a:t>制作复盘</a:t>
            </a:r>
            <a:endParaRPr sz="1125" b="1">
              <a:solidFill>
                <a:srgbClr val="0035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圆角矩形 55"/>
          <p:cNvSpPr>
            <a:spLocks noGrp="1"/>
          </p:cNvSpPr>
          <p:nvPr/>
        </p:nvSpPr>
        <p:spPr>
          <a:xfrm>
            <a:off x="7181850" y="4114800"/>
            <a:ext cx="9334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5385C5"/>
            </a:solidFill>
            <a:prstDash val="solid"/>
          </a:ln>
        </p:spPr>
        <p:txBody>
          <a:bodyPr/>
          <a:lstStyle/>
          <a:p/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7296150" y="4171950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48923"/>
          </a:bodyPr>
          <a:lstStyle/>
          <a:p>
            <a:pPr algn="ctr">
              <a:buNone/>
              <a:defRPr sz="1125" b="1">
                <a:solidFill>
                  <a:srgbClr val="5385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385C5"/>
                </a:solidFill>
                <a:latin typeface="微软雅黑"/>
                <a:ea typeface="微软雅黑"/>
                <a:cs typeface="微软雅黑"/>
              </a:rPr>
              <a:t>HDR Gain Map</a:t>
            </a:r>
            <a:endParaRPr sz="1125" b="1">
              <a:solidFill>
                <a:srgbClr val="5385C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8286750" y="4114800"/>
            <a:ext cx="9334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467886"/>
            </a:solidFill>
            <a:prstDash val="solid"/>
          </a:ln>
        </p:spPr>
        <p:txBody>
          <a:bodyPr/>
          <a:lstStyle/>
          <a:p/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8401050" y="4171950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4678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467886"/>
                </a:solidFill>
                <a:latin typeface="微软雅黑"/>
                <a:ea typeface="微软雅黑"/>
                <a:cs typeface="微软雅黑"/>
              </a:rPr>
              <a:t>Lumora</a:t>
            </a:r>
            <a:endParaRPr sz="1125" b="1">
              <a:solidFill>
                <a:srgbClr val="4678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圆角矩形 59"/>
          <p:cNvSpPr>
            <a:spLocks noGrp="1"/>
          </p:cNvSpPr>
          <p:nvPr/>
        </p:nvSpPr>
        <p:spPr>
          <a:xfrm>
            <a:off x="9391650" y="4114800"/>
            <a:ext cx="9334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96607D"/>
            </a:solidFill>
            <a:prstDash val="solid"/>
          </a:ln>
        </p:spPr>
        <p:txBody>
          <a:bodyPr/>
          <a:lstStyle/>
          <a:p/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9505950" y="4171950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55270"/>
          </a:bodyPr>
          <a:lstStyle/>
          <a:p>
            <a:pPr algn="ctr">
              <a:buNone/>
              <a:defRPr sz="1125" b="1">
                <a:solidFill>
                  <a:srgbClr val="9660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96607D"/>
                </a:solidFill>
                <a:latin typeface="微软雅黑"/>
                <a:ea typeface="微软雅黑"/>
                <a:cs typeface="微软雅黑"/>
              </a:rPr>
              <a:t>RGB MiniLED</a:t>
            </a:r>
            <a:endParaRPr sz="1125" b="1">
              <a:solidFill>
                <a:srgbClr val="96607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圆角矩形 61"/>
          <p:cNvSpPr>
            <a:spLocks noGrp="1"/>
          </p:cNvSpPr>
          <p:nvPr/>
        </p:nvSpPr>
        <p:spPr>
          <a:xfrm>
            <a:off x="514350" y="5734050"/>
            <a:ext cx="11201400" cy="495300"/>
          </a:xfrm>
          <a:prstGeom prst="roundRect">
            <a:avLst>
              <a:gd name="adj" fmla="val 3846"/>
            </a:avLst>
          </a:prstGeom>
          <a:solidFill>
            <a:srgbClr val="FFF0E0"/>
          </a:solidFill>
          <a:ln w="9525">
            <a:solidFill>
              <a:srgbClr val="96607D"/>
            </a:solidFill>
            <a:prstDash val="solid"/>
          </a:ln>
        </p:spPr>
        <p:txBody>
          <a:bodyPr/>
          <a:lstStyle/>
          <a:p/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723900" y="5876925"/>
            <a:ext cx="1078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4841"/>
          </a:bodyPr>
          <a:lstStyle/>
          <a:p>
            <a:pPr algn="l">
              <a:buNone/>
              <a:defRPr sz="1390" b="1">
                <a:solidFill>
                  <a:srgbClr val="654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B4D5A"/>
                </a:solidFill>
                <a:latin typeface="微软雅黑"/>
                <a:ea typeface="微软雅黑"/>
                <a:cs typeface="微软雅黑"/>
              </a:rPr>
              <a:t>项目不停留在方案稿，已具备“能打开、能看、能补、能管”的可运行应用形态。</a:t>
            </a:r>
            <a:endParaRPr sz="1275" b="1">
              <a:solidFill>
                <a:srgbClr val="6B4D5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4" name="Rectangle 93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椭圆 13"/>
          <p:cNvSpPr>
            <a:spLocks noGrp="1"/>
          </p:cNvSpPr>
          <p:nvPr/>
        </p:nvSpPr>
        <p:spPr>
          <a:xfrm>
            <a:off x="349003" y="381209"/>
            <a:ext cx="403243" cy="403243"/>
          </a:xfrm>
          <a:prstGeom prst="ellipse">
            <a:avLst/>
          </a:prstGeom>
          <a:gradFill>
            <a:gsLst>
              <a:gs pos="0">
                <a:srgbClr val="003591"/>
              </a:gs>
              <a:gs pos="52000">
                <a:srgbClr val="3038D6"/>
              </a:gs>
              <a:gs pos="100000">
                <a:srgbClr val="0035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5" name="任意多边形: 形状 14"/>
          <p:cNvSpPr>
            <a:spLocks noGrp="1"/>
          </p:cNvSpPr>
          <p:nvPr/>
        </p:nvSpPr>
        <p:spPr>
          <a:xfrm rot="13500000" flipV="1">
            <a:off x="468438" y="500645"/>
            <a:ext cx="164371" cy="164371"/>
          </a:xfrm>
          <a:custGeom>
            <a:avLst/>
            <a:gdLst/>
            <a:ahLst/>
            <a:cxnLst/>
            <a:rect l="l" t="t" r="r" b="b"/>
            <a:pathLst>
              <a:path w="581069" h="581068">
                <a:moveTo>
                  <a:pt x="0" y="684"/>
                </a:moveTo>
                <a:lnTo>
                  <a:pt x="684" y="684"/>
                </a:lnTo>
                <a:lnTo>
                  <a:pt x="684" y="0"/>
                </a:lnTo>
                <a:lnTo>
                  <a:pt x="547884" y="0"/>
                </a:lnTo>
                <a:lnTo>
                  <a:pt x="547884" y="98622"/>
                </a:lnTo>
                <a:lnTo>
                  <a:pt x="168359" y="98622"/>
                </a:lnTo>
                <a:lnTo>
                  <a:pt x="581069" y="511332"/>
                </a:lnTo>
                <a:lnTo>
                  <a:pt x="511333" y="581068"/>
                </a:lnTo>
                <a:lnTo>
                  <a:pt x="98622" y="168358"/>
                </a:lnTo>
                <a:lnTo>
                  <a:pt x="98622" y="547884"/>
                </a:lnTo>
                <a:lnTo>
                  <a:pt x="0" y="54788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1008768" y="321220"/>
            <a:ext cx="10668000" cy="883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gradFill>
                  <a:gsLst>
                    <a:gs pos="0">
                      <a:srgbClr val="003591"/>
                    </a:gs>
                    <a:gs pos="52000">
                      <a:srgbClr val="3038D6"/>
                    </a:gs>
                    <a:gs pos="100000">
                      <a:srgbClr val="003591"/>
                    </a:gs>
                  </a:gsLst>
                  <a:lin ang="5400000" scaled="1"/>
                </a:gradFill>
                <a:latin typeface="微软雅黑"/>
                <a:ea typeface="微软雅黑"/>
                <a:cs typeface="微软雅黑"/>
              </a:rPr>
              <a:t>一个真实章节展示AI从需求到网页结果的全过程</a:t>
            </a:r>
            <a:endParaRPr sz="2600" b="1">
              <a:gradFill>
                <a:gsLst>
                  <a:gs pos="0">
                    <a:srgbClr val="003591"/>
                  </a:gs>
                  <a:gs pos="52000">
                    <a:srgbClr val="3038D6"/>
                  </a:gs>
                  <a:gs pos="100000">
                    <a:srgbClr val="003591"/>
                  </a:gs>
                </a:gsLst>
                <a:lin ang="5400000" scaled="1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00100" y="100965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6667"/>
          </a:bodyPr>
          <a:lstStyle/>
          <a:p>
            <a:pPr algn="l">
              <a:buNone/>
              <a:defRPr sz="1500" b="1">
                <a:solidFill>
                  <a:srgbClr val="0000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00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实际案例：SDR→HDR 逆色调映射章节（让 AI 只当测光表）｜AI 工具：Claude Code、Codex、DeepSeek｜人工角色：画质工程师定算法、对标专业母版、把口径。</a:t>
            </a:r>
            <a:endParaRPr sz="1500" b="1">
              <a:solidFill>
                <a:srgbClr val="0000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42950" y="1562100"/>
            <a:ext cx="3086100" cy="1071245"/>
          </a:xfrm>
          <a:prstGeom prst="roundRect">
            <a:avLst>
              <a:gd name="adj" fmla="val 7843"/>
            </a:avLst>
          </a:prstGeom>
          <a:solidFill>
            <a:srgbClr val="F8F9FA"/>
          </a:solidFill>
          <a:ln w="9525">
            <a:solidFill>
              <a:srgbClr val="D5E0EF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76300" y="16954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003591"/>
          </a:solidFill>
          <a:ln w="9525">
            <a:solidFill>
              <a:srgbClr val="003591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6300" y="17430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0588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295400" y="1695450"/>
            <a:ext cx="2419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5490"/>
          </a:bodyPr>
          <a:lstStyle/>
          <a:p>
            <a:pPr algn="l">
              <a:buNone/>
              <a:defRPr sz="1275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283A"/>
                </a:solidFill>
                <a:latin typeface="微软雅黑"/>
                <a:ea typeface="微软雅黑"/>
                <a:cs typeface="微软雅黑"/>
              </a:rPr>
              <a:t>实际任务输入</a:t>
            </a:r>
            <a:endParaRPr sz="1275" b="1">
              <a:solidFill>
                <a:srgbClr val="2328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4400" y="2019300"/>
            <a:ext cx="2743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4259"/>
          </a:bodyPr>
          <a:lstStyle/>
          <a:p>
            <a:pPr algn="l">
              <a:buNone/>
              <a:def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先阅读</a:t>
            </a:r>
            <a:r>
              <a: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SDR→HDR</a:t>
            </a:r>
            <a:r>
              <a:rPr lang="zh-CN"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项目代码，在网页科普项目中做技术分析</a:t>
            </a:r>
            <a:r>
              <a: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，并做成能拖动对比、可调参的交互章节。</a:t>
            </a:r>
            <a:endParaRPr sz="1350" b="0">
              <a:solidFill>
                <a:srgbClr val="4754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4286250" y="1562100"/>
            <a:ext cx="3086100" cy="1072515"/>
          </a:xfrm>
          <a:prstGeom prst="roundRect">
            <a:avLst>
              <a:gd name="adj" fmla="val 7843"/>
            </a:avLst>
          </a:prstGeom>
          <a:solidFill>
            <a:srgbClr val="F8F9FA"/>
          </a:solidFill>
          <a:ln w="9525">
            <a:solidFill>
              <a:srgbClr val="D5E0EF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419600" y="16954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5385C5"/>
          </a:solidFill>
          <a:ln w="9525">
            <a:solidFill>
              <a:srgbClr val="5385C5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419600" y="17430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0588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838700" y="1695450"/>
            <a:ext cx="2419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5490"/>
          </a:bodyPr>
          <a:lstStyle/>
          <a:p>
            <a:pPr algn="l">
              <a:buNone/>
              <a:defRPr sz="1275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283A"/>
                </a:solidFill>
                <a:latin typeface="微软雅黑"/>
                <a:ea typeface="微软雅黑"/>
                <a:cs typeface="微软雅黑"/>
              </a:rPr>
              <a:t>AI拆解结构</a:t>
            </a:r>
            <a:endParaRPr sz="1275" b="1">
              <a:solidFill>
                <a:srgbClr val="2328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457700" y="2019300"/>
            <a:ext cx="2743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84259"/>
          </a:bodyPr>
          <a:lstStyle/>
          <a:p>
            <a:pPr algn="l">
              <a:buNone/>
              <a:def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按「为什么换思路 → LTX 当测光表 → 增益图约束 → 颜色跟上 → 整片流水线」组织。</a:t>
            </a:r>
            <a:endParaRPr sz="1350" b="0">
              <a:solidFill>
                <a:srgbClr val="4754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829550" y="1562100"/>
            <a:ext cx="3086100" cy="1072515"/>
          </a:xfrm>
          <a:prstGeom prst="roundRect">
            <a:avLst>
              <a:gd name="adj" fmla="val 7843"/>
            </a:avLst>
          </a:prstGeom>
          <a:solidFill>
            <a:srgbClr val="F8F9FA"/>
          </a:solidFill>
          <a:ln w="9525">
            <a:solidFill>
              <a:srgbClr val="D5E0EF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962900" y="16954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467886"/>
          </a:solidFill>
          <a:ln w="9525">
            <a:solidFill>
              <a:srgbClr val="467886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962900" y="17430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0588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382000" y="1695450"/>
            <a:ext cx="2419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5490"/>
          </a:bodyPr>
          <a:lstStyle/>
          <a:p>
            <a:pPr algn="l">
              <a:buNone/>
              <a:defRPr sz="1275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283A"/>
                </a:solidFill>
                <a:latin typeface="微软雅黑"/>
                <a:ea typeface="微软雅黑"/>
                <a:cs typeface="微软雅黑"/>
              </a:rPr>
              <a:t>AI生成原型</a:t>
            </a:r>
            <a:endParaRPr sz="1275" b="1">
              <a:solidFill>
                <a:srgbClr val="2328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001000" y="2019300"/>
            <a:ext cx="2743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84259"/>
          </a:bodyPr>
          <a:lstStyle/>
          <a:p>
            <a:pPr algn="l">
              <a:buNone/>
              <a:def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 SDR↔HDR 拖动对比、方案切换、dmax 滑块与处理链图，响应式页面。</a:t>
            </a:r>
            <a:endParaRPr sz="1350" b="0">
              <a:solidFill>
                <a:srgbClr val="4754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742950" y="2914650"/>
            <a:ext cx="3086100" cy="1028065"/>
          </a:xfrm>
          <a:prstGeom prst="roundRect">
            <a:avLst>
              <a:gd name="adj" fmla="val 7843"/>
            </a:avLst>
          </a:prstGeom>
          <a:solidFill>
            <a:srgbClr val="F8F9FA"/>
          </a:solidFill>
          <a:ln w="9525">
            <a:solidFill>
              <a:srgbClr val="D5E0EF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876300" y="30480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96607D"/>
          </a:solidFill>
          <a:ln w="9525">
            <a:solidFill>
              <a:srgbClr val="96607D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76300" y="30956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0588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295400" y="3048000"/>
            <a:ext cx="2419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5490"/>
          </a:bodyPr>
          <a:lstStyle/>
          <a:p>
            <a:pPr algn="l">
              <a:buNone/>
              <a:defRPr sz="1275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283A"/>
                </a:solidFill>
                <a:latin typeface="微软雅黑"/>
                <a:ea typeface="微软雅黑"/>
                <a:cs typeface="微软雅黑"/>
              </a:rPr>
              <a:t>专家查证</a:t>
            </a:r>
            <a:endParaRPr sz="1275" b="1">
              <a:solidFill>
                <a:srgbClr val="2328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14400" y="3371850"/>
            <a:ext cx="2743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84259"/>
          </a:bodyPr>
          <a:lstStyle/>
          <a:p>
            <a:pPr algn="l">
              <a:buNone/>
              <a:def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核对 LTX 输出，与 ASC StEM2 专业母版逐帧对标（亮度 1.16×、饱和 0.99×、dmax=0.4）。</a:t>
            </a:r>
            <a:endParaRPr sz="1350" b="0">
              <a:solidFill>
                <a:srgbClr val="4754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4286250" y="2914650"/>
            <a:ext cx="3086100" cy="971550"/>
          </a:xfrm>
          <a:prstGeom prst="roundRect">
            <a:avLst>
              <a:gd name="adj" fmla="val 7843"/>
            </a:avLst>
          </a:prstGeom>
          <a:solidFill>
            <a:srgbClr val="F8F9FA"/>
          </a:solidFill>
          <a:ln w="9525">
            <a:solidFill>
              <a:srgbClr val="D5E0EF"/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4419600" y="30480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003591"/>
          </a:solidFill>
          <a:ln w="9525">
            <a:solidFill>
              <a:srgbClr val="003591"/>
            </a:solidFill>
            <a:prstDash val="solid"/>
          </a:ln>
        </p:spPr>
        <p:txBody>
          <a:bodyPr/>
          <a:lstStyle/>
          <a:p/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419600" y="30956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0588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838700" y="3048000"/>
            <a:ext cx="2419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5490"/>
          </a:bodyPr>
          <a:lstStyle/>
          <a:p>
            <a:pPr algn="l">
              <a:buNone/>
              <a:defRPr sz="1275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283A"/>
                </a:solidFill>
                <a:latin typeface="微软雅黑"/>
                <a:ea typeface="微软雅黑"/>
                <a:cs typeface="微软雅黑"/>
              </a:rPr>
              <a:t>迭代修正</a:t>
            </a:r>
            <a:endParaRPr sz="1275" b="1">
              <a:solidFill>
                <a:srgbClr val="2328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457700" y="3371850"/>
            <a:ext cx="2743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84259"/>
          </a:bodyPr>
          <a:lstStyle/>
          <a:p>
            <a:pPr algn="l">
              <a:buNone/>
              <a:def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修接缝匹配、色度注入点、AVIF/HDR 图兼容、移动端与中英文本。</a:t>
            </a:r>
            <a:endParaRPr sz="1350" b="0">
              <a:solidFill>
                <a:srgbClr val="4754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7829550" y="2914650"/>
            <a:ext cx="3086100" cy="971550"/>
          </a:xfrm>
          <a:prstGeom prst="roundRect">
            <a:avLst>
              <a:gd name="adj" fmla="val 7843"/>
            </a:avLst>
          </a:prstGeom>
          <a:solidFill>
            <a:srgbClr val="F8F9FA"/>
          </a:solidFill>
          <a:ln w="9525">
            <a:solidFill>
              <a:srgbClr val="D5E0EF"/>
            </a:solidFill>
            <a:prstDash val="solid"/>
          </a:ln>
        </p:spPr>
        <p:txBody>
          <a:bodyPr/>
          <a:lstStyle/>
          <a:p/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7962900" y="30480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467886"/>
          </a:solidFill>
          <a:ln w="9525">
            <a:solidFill>
              <a:srgbClr val="467886"/>
            </a:solidFill>
            <a:prstDash val="solid"/>
          </a:ln>
        </p:spPr>
        <p:txBody>
          <a:bodyPr/>
          <a:lstStyle/>
          <a:p/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962900" y="30956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0588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382000" y="3048000"/>
            <a:ext cx="2419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5490"/>
          </a:bodyPr>
          <a:lstStyle/>
          <a:p>
            <a:pPr algn="l">
              <a:buNone/>
              <a:defRPr sz="1275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283A"/>
                </a:solidFill>
                <a:latin typeface="微软雅黑"/>
                <a:ea typeface="微软雅黑"/>
                <a:cs typeface="微软雅黑"/>
              </a:rPr>
              <a:t>输出结果</a:t>
            </a:r>
            <a:endParaRPr sz="1275" b="1">
              <a:solidFill>
                <a:srgbClr val="2328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001000" y="3371850"/>
            <a:ext cx="2743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93347"/>
          </a:bodyPr>
          <a:lstStyle/>
          <a:p>
            <a:pPr algn="l">
              <a:buNone/>
              <a:def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754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交互章节 ltx-gainmap-itm 上线，并同步沉淀制作复盘。</a:t>
            </a:r>
            <a:endParaRPr sz="1350" b="0">
              <a:solidFill>
                <a:srgbClr val="4754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819150" y="4533900"/>
            <a:ext cx="9906000" cy="590550"/>
          </a:xfrm>
          <a:prstGeom prst="roundRect">
            <a:avLst>
              <a:gd name="adj" fmla="val 12903"/>
            </a:avLst>
          </a:prstGeom>
          <a:solidFill>
            <a:srgbClr val="F0F7F3"/>
          </a:solidFill>
          <a:ln w="9525">
            <a:solidFill>
              <a:srgbClr val="B5D8CC"/>
            </a:solidFill>
            <a:prstDash val="solid"/>
          </a:ln>
        </p:spPr>
        <p:txBody>
          <a:bodyPr/>
          <a:lstStyle/>
          <a:p/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066800" y="4705350"/>
            <a:ext cx="941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80702"/>
          </a:bodyPr>
          <a:lstStyle/>
          <a:p>
            <a:pPr algn="l">
              <a:buNone/>
              <a:defRPr sz="1425" b="1">
                <a:solidFill>
                  <a:srgbClr val="254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54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可核验产物：逆色调映射系统、LTX Gainmap、色度+亮度调优、实时播放器 Lumora 四篇交互章节 + 拖动对比 / dmax 滑块演示。</a:t>
            </a:r>
            <a:endParaRPr sz="1425" b="1">
              <a:solidFill>
                <a:srgbClr val="254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514350" y="5734050"/>
            <a:ext cx="11201400" cy="495300"/>
          </a:xfrm>
          <a:prstGeom prst="roundRect">
            <a:avLst>
              <a:gd name="adj" fmla="val 3846"/>
            </a:avLst>
          </a:prstGeom>
          <a:solidFill>
            <a:srgbClr val="FFF0E0"/>
          </a:solidFill>
          <a:ln w="9525">
            <a:solidFill>
              <a:srgbClr val="96607D"/>
            </a:solidFill>
            <a:prstDash val="solid"/>
          </a:ln>
        </p:spPr>
        <p:txBody>
          <a:bodyPr/>
          <a:lstStyle/>
          <a:p/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723900" y="5876925"/>
            <a:ext cx="1078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4841"/>
          </a:bodyPr>
          <a:lstStyle/>
          <a:p>
            <a:pPr algn="l">
              <a:buNone/>
              <a:defRPr sz="1390" b="1">
                <a:solidFill>
                  <a:srgbClr val="654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654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承担结构、资料整理、代码与交互原型；画质工程师承担算法、母版对标、口径与发布验收 —— 把一个真实工程的判断沉淀成可交互的学习内容。</a:t>
            </a:r>
            <a:endParaRPr sz="1390" b="1">
              <a:solidFill>
                <a:srgbClr val="6543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椭圆 13"/>
          <p:cNvSpPr>
            <a:spLocks noGrp="1"/>
          </p:cNvSpPr>
          <p:nvPr/>
        </p:nvSpPr>
        <p:spPr>
          <a:xfrm>
            <a:off x="349003" y="381209"/>
            <a:ext cx="403243" cy="403243"/>
          </a:xfrm>
          <a:prstGeom prst="ellipse">
            <a:avLst/>
          </a:prstGeom>
          <a:gradFill>
            <a:gsLst>
              <a:gs pos="0">
                <a:srgbClr val="003591"/>
              </a:gs>
              <a:gs pos="52000">
                <a:srgbClr val="3038D6"/>
              </a:gs>
              <a:gs pos="100000">
                <a:srgbClr val="0035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5" name="任意多边形: 形状 14"/>
          <p:cNvSpPr>
            <a:spLocks noGrp="1"/>
          </p:cNvSpPr>
          <p:nvPr/>
        </p:nvSpPr>
        <p:spPr>
          <a:xfrm rot="13500000" flipV="1">
            <a:off x="468438" y="500645"/>
            <a:ext cx="164371" cy="164371"/>
          </a:xfrm>
          <a:custGeom>
            <a:avLst/>
            <a:gdLst/>
            <a:ahLst/>
            <a:cxnLst/>
            <a:rect l="l" t="t" r="r" b="b"/>
            <a:pathLst>
              <a:path w="581069" h="581068">
                <a:moveTo>
                  <a:pt x="0" y="684"/>
                </a:moveTo>
                <a:lnTo>
                  <a:pt x="684" y="684"/>
                </a:lnTo>
                <a:lnTo>
                  <a:pt x="684" y="0"/>
                </a:lnTo>
                <a:lnTo>
                  <a:pt x="547884" y="0"/>
                </a:lnTo>
                <a:lnTo>
                  <a:pt x="547884" y="98622"/>
                </a:lnTo>
                <a:lnTo>
                  <a:pt x="168359" y="98622"/>
                </a:lnTo>
                <a:lnTo>
                  <a:pt x="581069" y="511332"/>
                </a:lnTo>
                <a:lnTo>
                  <a:pt x="511333" y="581068"/>
                </a:lnTo>
                <a:lnTo>
                  <a:pt x="98622" y="168358"/>
                </a:lnTo>
                <a:lnTo>
                  <a:pt x="98622" y="547884"/>
                </a:lnTo>
                <a:lnTo>
                  <a:pt x="0" y="54788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1008768" y="321220"/>
            <a:ext cx="10668000" cy="883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gradFill>
                  <a:gsLst>
                    <a:gs pos="0">
                      <a:srgbClr val="003591"/>
                    </a:gs>
                    <a:gs pos="52000">
                      <a:srgbClr val="3038D6"/>
                    </a:gs>
                    <a:gs pos="100000">
                      <a:srgbClr val="003591"/>
                    </a:gs>
                  </a:gsLst>
                  <a:lin ang="5400000" scaled="1"/>
                </a:gradFill>
                <a:latin typeface="微软雅黑"/>
                <a:ea typeface="微软雅黑"/>
                <a:cs typeface="微软雅黑"/>
              </a:rPr>
              <a:t>可视化才是核心：能拖动、能切换、能实时调参</a:t>
            </a:r>
            <a:endParaRPr sz="2600" b="1">
              <a:gradFill>
                <a:gsLst>
                  <a:gs pos="0">
                    <a:srgbClr val="003591"/>
                  </a:gs>
                  <a:gs pos="52000">
                    <a:srgbClr val="3038D6"/>
                  </a:gs>
                  <a:gs pos="100000">
                    <a:srgbClr val="003591"/>
                  </a:gs>
                </a:gsLst>
                <a:lin ang="5400000" scaled="1"/>
              </a:gradFill>
              <a:latin typeface="微软雅黑"/>
              <a:ea typeface="微软雅黑"/>
              <a:cs typeface="微软雅黑"/>
            </a:endParaRPr>
          </a:p>
          <a:p>
            <a:endParaRPr sz="2600" b="1">
              <a:gradFill>
                <a:gsLst>
                  <a:gs pos="0">
                    <a:srgbClr val="003591"/>
                  </a:gs>
                  <a:gs pos="52000">
                    <a:srgbClr val="3038D6"/>
                  </a:gs>
                  <a:gs pos="100000">
                    <a:srgbClr val="003591"/>
                  </a:gs>
                </a:gsLst>
                <a:lin ang="5400000" scaled="1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Rectangle 67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2" name="TextBox 71"/>
          <p:cNvSpPr txBox="1"/>
          <p:nvPr/>
        </p:nvSpPr>
        <p:spPr>
          <a:xfrm>
            <a:off x="758952" y="5255318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B7480"/>
                </a:solidFill>
                <a:latin typeface="微软雅黑"/>
                <a:ea typeface="微软雅黑"/>
                <a:cs typeface="微软雅黑"/>
              </a:rPr>
              <a:t>室内 · 第 11 秒。HDR 图在支持 HDR 的浏览器 + HDR 屏上才会真正「亮起来」。</a:t>
            </a:r>
            <a:endParaRPr sz="950" b="0">
              <a:solidFill>
                <a:srgbClr val="6B74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7360920" y="1847088"/>
            <a:ext cx="4069080" cy="11338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bIns="54864"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507224" y="1984248"/>
            <a:ext cx="365760" cy="265176"/>
          </a:xfrm>
          <a:prstGeom prst="roundRect">
            <a:avLst>
              <a:gd name="adj" fmla="val 18000"/>
            </a:avLst>
          </a:prstGeom>
          <a:solidFill>
            <a:srgbClr val="003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964424" y="1975104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A2742"/>
                </a:solidFill>
                <a:latin typeface="微软雅黑"/>
                <a:ea typeface="微软雅黑"/>
                <a:cs typeface="微软雅黑"/>
              </a:rPr>
              <a:t>可拖动</a:t>
            </a:r>
            <a:endParaRPr sz="1250" b="1">
              <a:solidFill>
                <a:srgbClr val="1A27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525512" y="2304288"/>
            <a:ext cx="3739896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拖动竖线,同一处 SDR 与 HDR 直接并排对比,亲手验证差别。</a:t>
            </a:r>
            <a:endParaRPr sz="1000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7360920" y="3108960"/>
            <a:ext cx="4069080" cy="11338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bIns="54864"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507224" y="3246120"/>
            <a:ext cx="365760" cy="265176"/>
          </a:xfrm>
          <a:prstGeom prst="roundRect">
            <a:avLst>
              <a:gd name="adj" fmla="val 18000"/>
            </a:avLst>
          </a:prstGeom>
          <a:solidFill>
            <a:srgbClr val="467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964424" y="3236976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A2742"/>
                </a:solidFill>
                <a:latin typeface="微软雅黑"/>
                <a:ea typeface="微软雅黑"/>
                <a:cs typeface="微软雅黑"/>
              </a:rPr>
              <a:t>可切换</a:t>
            </a:r>
            <a:endParaRPr sz="1250" b="1">
              <a:solidFill>
                <a:srgbClr val="1A27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525512" y="3566160"/>
            <a:ext cx="3739896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一键切「LTX 直接 / LTX gainmap」—— 一眼看出「重画 vs 只提亮」:直接生成会改写细节,gainmap 只让画面变亮、结构不变。</a:t>
            </a:r>
            <a:endParaRPr sz="1000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7360920" y="4370832"/>
            <a:ext cx="4069080" cy="11338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bIns="54864"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7507224" y="4507992"/>
            <a:ext cx="365760" cy="265176"/>
          </a:xfrm>
          <a:prstGeom prst="roundRect">
            <a:avLst>
              <a:gd name="adj" fmla="val 18000"/>
            </a:avLst>
          </a:prstGeom>
          <a:solidFill>
            <a:srgbClr val="966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964424" y="4498848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A2742"/>
                </a:solidFill>
                <a:latin typeface="微软雅黑"/>
                <a:ea typeface="微软雅黑"/>
                <a:cs typeface="微软雅黑"/>
              </a:rPr>
              <a:t>可调参</a:t>
            </a:r>
            <a:endParaRPr sz="1250" b="1">
              <a:solidFill>
                <a:srgbClr val="1A27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525512" y="4828032"/>
            <a:ext cx="3739896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dmax 滑块(0–1)实时调色度饱和 —— 想更素或更艳随手可调,对标专业母版。</a:t>
            </a:r>
            <a:endParaRPr sz="1000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758952" y="5669280"/>
            <a:ext cx="10698480" cy="56692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3591"/>
                </a:solidFill>
                <a:latin typeface="微软雅黑"/>
                <a:ea typeface="微软雅黑"/>
                <a:cs typeface="微软雅黑"/>
              </a:rPr>
              <a:t>不是放静态截图,</a:t>
            </a:r>
            <a:r>
              <a:rPr sz="12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而是能当场拖动、切换、调参的工具 —— 把「看不见的技术差异」变成一眼可辨、可讨论的学习体验。</a:t>
            </a:r>
            <a:endParaRPr sz="1200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" name="图片 1" descr="截屏2026-07-20 10.15.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015" y="980440"/>
            <a:ext cx="5649595" cy="46494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" name="任意多边形: 形状 1"/>
          <p:cNvSpPr>
            <a:spLocks noGrp="1"/>
          </p:cNvSpPr>
          <p:nvPr/>
        </p:nvSpPr>
        <p:spPr>
          <a:xfrm rot="16200000">
            <a:off x="7276479" y="846551"/>
            <a:ext cx="4742354" cy="5088694"/>
          </a:xfrm>
          <a:custGeom>
            <a:avLst/>
            <a:gdLst/>
            <a:ahLst/>
            <a:cxnLst/>
            <a:rect l="l" t="t" r="r" b="b"/>
            <a:pathLst>
              <a:path w="4742354" h="5088694">
                <a:moveTo>
                  <a:pt x="4742354" y="5088694"/>
                </a:moveTo>
                <a:lnTo>
                  <a:pt x="3688656" y="5088694"/>
                </a:lnTo>
                <a:lnTo>
                  <a:pt x="2371176" y="2261300"/>
                </a:lnTo>
                <a:lnTo>
                  <a:pt x="1053696" y="5088694"/>
                </a:lnTo>
                <a:lnTo>
                  <a:pt x="0" y="5088693"/>
                </a:lnTo>
                <a:lnTo>
                  <a:pt x="2371177" y="0"/>
                </a:lnTo>
                <a:close/>
              </a:path>
            </a:pathLst>
          </a:custGeom>
          <a:gradFill rotWithShape="1">
            <a:gsLst>
              <a:gs pos="0">
                <a:srgbClr val="003591"/>
              </a:gs>
              <a:gs pos="30000">
                <a:srgbClr val="3038D6">
                  <a:alpha val="80000"/>
                </a:srgbClr>
              </a:gs>
              <a:gs pos="50000">
                <a:srgbClr val="003591">
                  <a:alpha val="40000"/>
                </a:srgbClr>
              </a:gs>
              <a:gs pos="65000">
                <a:srgbClr val="003591">
                  <a:alpha val="0"/>
                </a:srgbClr>
              </a:gs>
            </a:gsLst>
            <a:lin ang="12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3" name="任意多边形: 形状 2"/>
          <p:cNvSpPr>
            <a:spLocks noGrp="1"/>
          </p:cNvSpPr>
          <p:nvPr/>
        </p:nvSpPr>
        <p:spPr>
          <a:xfrm rot="16200000">
            <a:off x="9447330" y="1970218"/>
            <a:ext cx="2647978" cy="2841363"/>
          </a:xfrm>
          <a:custGeom>
            <a:avLst/>
            <a:gdLst/>
            <a:ahLst/>
            <a:cxnLst/>
            <a:rect l="l" t="t" r="r" b="b"/>
            <a:pathLst>
              <a:path w="2647978" h="2841363">
                <a:moveTo>
                  <a:pt x="2647978" y="2841363"/>
                </a:moveTo>
                <a:lnTo>
                  <a:pt x="1640673" y="2841363"/>
                </a:lnTo>
                <a:lnTo>
                  <a:pt x="1323989" y="2161738"/>
                </a:lnTo>
                <a:lnTo>
                  <a:pt x="1007304" y="2841363"/>
                </a:lnTo>
                <a:lnTo>
                  <a:pt x="0" y="2841363"/>
                </a:lnTo>
                <a:lnTo>
                  <a:pt x="1323989" y="0"/>
                </a:lnTo>
                <a:close/>
              </a:path>
            </a:pathLst>
          </a:custGeom>
          <a:gradFill rotWithShape="1">
            <a:gsLst>
              <a:gs pos="0">
                <a:srgbClr val="003591">
                  <a:alpha val="30000"/>
                </a:srgbClr>
              </a:gs>
              <a:gs pos="30000">
                <a:srgbClr val="3038D6">
                  <a:alpha val="20000"/>
                </a:srgbClr>
              </a:gs>
              <a:gs pos="50000">
                <a:srgbClr val="003591">
                  <a:alpha val="10000"/>
                </a:srgbClr>
              </a:gs>
              <a:gs pos="65000">
                <a:srgbClr val="003591">
                  <a:alpha val="0"/>
                </a:srgbClr>
              </a:gs>
            </a:gsLst>
            <a:lin ang="12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5" name="任意多边形: 形状 4"/>
          <p:cNvSpPr>
            <a:spLocks noGrp="1"/>
          </p:cNvSpPr>
          <p:nvPr/>
        </p:nvSpPr>
        <p:spPr>
          <a:xfrm rot="5400000" flipH="1">
            <a:off x="96694" y="1970218"/>
            <a:ext cx="2647978" cy="2841363"/>
          </a:xfrm>
          <a:custGeom>
            <a:avLst/>
            <a:gdLst/>
            <a:ahLst/>
            <a:cxnLst/>
            <a:rect l="l" t="t" r="r" b="b"/>
            <a:pathLst>
              <a:path w="2647978" h="2841363">
                <a:moveTo>
                  <a:pt x="2647978" y="2841363"/>
                </a:moveTo>
                <a:lnTo>
                  <a:pt x="1640673" y="2841363"/>
                </a:lnTo>
                <a:lnTo>
                  <a:pt x="1323989" y="2161738"/>
                </a:lnTo>
                <a:lnTo>
                  <a:pt x="1007304" y="2841363"/>
                </a:lnTo>
                <a:lnTo>
                  <a:pt x="0" y="2841363"/>
                </a:lnTo>
                <a:lnTo>
                  <a:pt x="1323989" y="0"/>
                </a:lnTo>
                <a:close/>
              </a:path>
            </a:pathLst>
          </a:custGeom>
          <a:gradFill rotWithShape="1">
            <a:gsLst>
              <a:gs pos="0">
                <a:srgbClr val="003591">
                  <a:alpha val="30000"/>
                </a:srgbClr>
              </a:gs>
              <a:gs pos="30000">
                <a:srgbClr val="3038D6">
                  <a:alpha val="20000"/>
                </a:srgbClr>
              </a:gs>
              <a:gs pos="50000">
                <a:srgbClr val="003591">
                  <a:alpha val="10000"/>
                </a:srgbClr>
              </a:gs>
              <a:gs pos="65000">
                <a:srgbClr val="003591">
                  <a:alpha val="0"/>
                </a:srgbClr>
              </a:gs>
            </a:gsLst>
            <a:lin ang="12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7" name="任意多边形: 形状 6"/>
          <p:cNvSpPr>
            <a:spLocks noGrp="1"/>
          </p:cNvSpPr>
          <p:nvPr/>
        </p:nvSpPr>
        <p:spPr>
          <a:xfrm>
            <a:off x="4316381" y="3921904"/>
            <a:ext cx="3531344" cy="544209"/>
          </a:xfrm>
          <a:custGeom>
            <a:avLst/>
            <a:gdLst/>
            <a:ahLst/>
            <a:cxnLst/>
            <a:rect l="l" t="t" r="r" b="b"/>
            <a:pathLst>
              <a:path w="3383491" h="527050">
                <a:moveTo>
                  <a:pt x="0" y="2116"/>
                </a:moveTo>
                <a:lnTo>
                  <a:pt x="1600200" y="2116"/>
                </a:lnTo>
                <a:lnTo>
                  <a:pt x="1346200" y="527050"/>
                </a:lnTo>
                <a:lnTo>
                  <a:pt x="2071158" y="0"/>
                </a:lnTo>
                <a:lnTo>
                  <a:pt x="3383491" y="0"/>
                </a:lnTo>
              </a:path>
            </a:pathLst>
          </a:custGeom>
          <a:noFill/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任意多边形: 形状 3"/>
          <p:cNvSpPr>
            <a:spLocks noGrp="1"/>
          </p:cNvSpPr>
          <p:nvPr/>
        </p:nvSpPr>
        <p:spPr>
          <a:xfrm rot="5400000" flipH="1">
            <a:off x="173171" y="846551"/>
            <a:ext cx="4742354" cy="5088694"/>
          </a:xfrm>
          <a:custGeom>
            <a:avLst/>
            <a:gdLst/>
            <a:ahLst/>
            <a:cxnLst/>
            <a:rect l="l" t="t" r="r" b="b"/>
            <a:pathLst>
              <a:path w="4742354" h="5088694">
                <a:moveTo>
                  <a:pt x="4742354" y="5088694"/>
                </a:moveTo>
                <a:lnTo>
                  <a:pt x="3688656" y="5088694"/>
                </a:lnTo>
                <a:lnTo>
                  <a:pt x="2371176" y="2261300"/>
                </a:lnTo>
                <a:lnTo>
                  <a:pt x="1053696" y="5088694"/>
                </a:lnTo>
                <a:lnTo>
                  <a:pt x="0" y="5088693"/>
                </a:lnTo>
                <a:lnTo>
                  <a:pt x="2371177" y="0"/>
                </a:lnTo>
                <a:close/>
              </a:path>
            </a:pathLst>
          </a:custGeom>
          <a:gradFill rotWithShape="1">
            <a:gsLst>
              <a:gs pos="0">
                <a:srgbClr val="003591"/>
              </a:gs>
              <a:gs pos="30000">
                <a:srgbClr val="3038D6">
                  <a:alpha val="80000"/>
                </a:srgbClr>
              </a:gs>
              <a:gs pos="50000">
                <a:srgbClr val="003591">
                  <a:alpha val="40000"/>
                </a:srgbClr>
              </a:gs>
              <a:gs pos="65000">
                <a:srgbClr val="003591">
                  <a:alpha val="0"/>
                </a:srgbClr>
              </a:gs>
            </a:gsLst>
            <a:lin ang="12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50" name="文本框 49"/>
          <p:cNvSpPr>
            <a:spLocks noGrp="1"/>
          </p:cNvSpPr>
          <p:nvPr/>
        </p:nvSpPr>
        <p:spPr>
          <a:xfrm>
            <a:off x="4344277" y="1588736"/>
            <a:ext cx="3503448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9200" spc="300">
                <a:solidFill>
                  <a:srgbClr val="003591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9200" spc="300">
              <a:solidFill>
                <a:srgbClr val="0035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48865" y="2908935"/>
            <a:ext cx="826135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提效/创新显性度——“快不快”</a:t>
            </a:r>
            <a:endParaRPr sz="4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椭圆 13"/>
          <p:cNvSpPr>
            <a:spLocks noGrp="1"/>
          </p:cNvSpPr>
          <p:nvPr/>
        </p:nvSpPr>
        <p:spPr>
          <a:xfrm>
            <a:off x="349003" y="381209"/>
            <a:ext cx="403243" cy="403243"/>
          </a:xfrm>
          <a:prstGeom prst="ellipse">
            <a:avLst/>
          </a:prstGeom>
          <a:gradFill>
            <a:gsLst>
              <a:gs pos="0">
                <a:srgbClr val="003591"/>
              </a:gs>
              <a:gs pos="52000">
                <a:srgbClr val="3038D6"/>
              </a:gs>
              <a:gs pos="100000">
                <a:srgbClr val="0035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5" name="任意多边形: 形状 14"/>
          <p:cNvSpPr>
            <a:spLocks noGrp="1"/>
          </p:cNvSpPr>
          <p:nvPr/>
        </p:nvSpPr>
        <p:spPr>
          <a:xfrm rot="13500000" flipV="1">
            <a:off x="468438" y="500645"/>
            <a:ext cx="164371" cy="164371"/>
          </a:xfrm>
          <a:custGeom>
            <a:avLst/>
            <a:gdLst/>
            <a:ahLst/>
            <a:cxnLst/>
            <a:rect l="l" t="t" r="r" b="b"/>
            <a:pathLst>
              <a:path w="581069" h="581068">
                <a:moveTo>
                  <a:pt x="0" y="684"/>
                </a:moveTo>
                <a:lnTo>
                  <a:pt x="684" y="684"/>
                </a:lnTo>
                <a:lnTo>
                  <a:pt x="684" y="0"/>
                </a:lnTo>
                <a:lnTo>
                  <a:pt x="547884" y="0"/>
                </a:lnTo>
                <a:lnTo>
                  <a:pt x="547884" y="98622"/>
                </a:lnTo>
                <a:lnTo>
                  <a:pt x="168359" y="98622"/>
                </a:lnTo>
                <a:lnTo>
                  <a:pt x="581069" y="511332"/>
                </a:lnTo>
                <a:lnTo>
                  <a:pt x="511333" y="581068"/>
                </a:lnTo>
                <a:lnTo>
                  <a:pt x="98622" y="168358"/>
                </a:lnTo>
                <a:lnTo>
                  <a:pt x="98622" y="547884"/>
                </a:lnTo>
                <a:lnTo>
                  <a:pt x="0" y="54788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1008768" y="321220"/>
            <a:ext cx="10668000" cy="883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gradFill>
                  <a:gsLst>
                    <a:gs pos="0">
                      <a:srgbClr val="003591"/>
                    </a:gs>
                    <a:gs pos="52000">
                      <a:srgbClr val="3038D6"/>
                    </a:gs>
                    <a:gs pos="100000">
                      <a:srgbClr val="003591"/>
                    </a:gs>
                  </a:gsLst>
                  <a:lin ang="5400000" scaled="1"/>
                </a:gradFill>
                <a:latin typeface="微软雅黑"/>
                <a:ea typeface="微软雅黑"/>
                <a:cs typeface="微软雅黑"/>
              </a:rPr>
              <a:t>提效 / 创新：一堆项目记录 → 几小时变成一页可读的汇报网页</a:t>
            </a:r>
            <a:endParaRPr sz="2600" b="1">
              <a:gradFill>
                <a:gsLst>
                  <a:gs pos="0">
                    <a:srgbClr val="003591"/>
                  </a:gs>
                  <a:gs pos="52000">
                    <a:srgbClr val="3038D6"/>
                  </a:gs>
                  <a:gs pos="100000">
                    <a:srgbClr val="003591"/>
                  </a:gs>
                </a:gsLst>
                <a:lin ang="5400000" scaled="1"/>
              </a:gradFill>
              <a:latin typeface="微软雅黑"/>
              <a:ea typeface="微软雅黑"/>
              <a:cs typeface="微软雅黑"/>
            </a:endParaRPr>
          </a:p>
          <a:p>
            <a:endParaRPr sz="2600" b="1">
              <a:gradFill>
                <a:gsLst>
                  <a:gs pos="0">
                    <a:srgbClr val="003591"/>
                  </a:gs>
                  <a:gs pos="52000">
                    <a:srgbClr val="3038D6"/>
                  </a:gs>
                  <a:gs pos="100000">
                    <a:srgbClr val="003591"/>
                  </a:gs>
                </a:gsLst>
                <a:lin ang="5400000" scaled="1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Rectangle 45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1005840" y="10972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6B7480"/>
                </a:solidFill>
                <a:latin typeface="微软雅黑"/>
                <a:ea typeface="微软雅黑"/>
                <a:cs typeface="微软雅黑"/>
              </a:rPr>
              <a:t>快在「分工」：AI 起草结构与文案、把数据自动做成图表,人只查证和拍板 —— 不手写文档、不自己排版画图。</a:t>
            </a:r>
            <a:endParaRPr sz="1300" b="0">
              <a:solidFill>
                <a:srgbClr val="6B74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758952" y="1810512"/>
            <a:ext cx="6675120" cy="141732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1956816"/>
            <a:ext cx="14173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6B7480"/>
                </a:solidFill>
                <a:latin typeface="微软雅黑"/>
                <a:ea typeface="微软雅黑"/>
                <a:cs typeface="微软雅黑"/>
              </a:rPr>
              <a:t>传统汇报</a:t>
            </a:r>
            <a:endParaRPr sz="1400" b="1">
              <a:solidFill>
                <a:srgbClr val="6B74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450592" y="1956816"/>
            <a:ext cx="27889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手写 Word / PPT · 自己画图 · 反复排版校对</a:t>
            </a:r>
            <a:endParaRPr sz="1150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285232" y="1956816"/>
            <a:ext cx="3657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>
                <a:solidFill>
                  <a:srgbClr val="6B7480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700" b="1">
              <a:solidFill>
                <a:srgbClr val="6B74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742432" y="1938528"/>
            <a:ext cx="160020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500" b="1">
                <a:solidFill>
                  <a:srgbClr val="C0504D"/>
                </a:solidFill>
                <a:latin typeface="微软雅黑"/>
                <a:ea typeface="微软雅黑"/>
                <a:cs typeface="微软雅黑"/>
              </a:rPr>
              <a:t>数天</a:t>
            </a:r>
            <a:endParaRPr sz="2500" b="1">
              <a:solidFill>
                <a:srgbClr val="C0504D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B7480"/>
                </a:solidFill>
                <a:latin typeface="微软雅黑"/>
                <a:ea typeface="微软雅黑"/>
                <a:cs typeface="微软雅黑"/>
              </a:rPr>
              <a:t>静态文档 · 改一次重排一次</a:t>
            </a:r>
            <a:endParaRPr sz="950" b="0">
              <a:solidFill>
                <a:srgbClr val="6B74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758952" y="3346704"/>
            <a:ext cx="6675120" cy="1417320"/>
          </a:xfrm>
          <a:prstGeom prst="roundRect">
            <a:avLst>
              <a:gd name="adj" fmla="val 6000"/>
            </a:avLst>
          </a:prstGeom>
          <a:solidFill>
            <a:srgbClr val="EE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0120" y="3493008"/>
            <a:ext cx="14173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3591"/>
                </a:solidFill>
                <a:latin typeface="微软雅黑"/>
                <a:ea typeface="微软雅黑"/>
                <a:cs typeface="微软雅黑"/>
              </a:rPr>
              <a:t>网页工作流</a:t>
            </a:r>
            <a:endParaRPr sz="1400" b="1">
              <a:solidFill>
                <a:srgbClr val="0035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450592" y="3687953"/>
            <a:ext cx="2788920" cy="7073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lang="zh-CN" sz="11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阅读项目仓库</a:t>
            </a:r>
            <a:r>
              <a:rPr lang="en-US" altLang="zh-CN" sz="11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lang="zh-CN" sz="11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查找相关资料</a:t>
            </a:r>
            <a:r>
              <a:rPr lang="en-US" altLang="zh-CN" sz="11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11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起草结构文案 · 自动出可视化</a:t>
            </a:r>
            <a:r>
              <a:rPr lang="zh-CN" sz="11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网页，目前实测一个新项目的汇报网页仅需</a:t>
            </a:r>
            <a:r>
              <a:rPr lang="en-US" altLang="zh-CN" sz="11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5</a:t>
            </a:r>
            <a:r>
              <a:rPr lang="zh-CN" altLang="en-US" sz="11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次对话修改</a:t>
            </a:r>
            <a:r>
              <a:rPr lang="zh-CN" altLang="en-US" sz="11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即可完成。</a:t>
            </a:r>
            <a:endParaRPr lang="zh-CN" altLang="en-US" sz="1150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285232" y="3493008"/>
            <a:ext cx="3657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>
                <a:solidFill>
                  <a:srgbClr val="6B7480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700" b="1">
              <a:solidFill>
                <a:srgbClr val="6B74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742432" y="3474720"/>
            <a:ext cx="160020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500" b="1">
                <a:solidFill>
                  <a:srgbClr val="1E7A45"/>
                </a:solidFill>
                <a:latin typeface="微软雅黑"/>
                <a:ea typeface="微软雅黑"/>
                <a:cs typeface="微软雅黑"/>
              </a:rPr>
              <a:t>几小时</a:t>
            </a:r>
            <a:endParaRPr sz="2500" b="1">
              <a:solidFill>
                <a:srgbClr val="1E7A45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B7480"/>
                </a:solidFill>
                <a:latin typeface="微软雅黑"/>
                <a:ea typeface="微软雅黑"/>
                <a:cs typeface="微软雅黑"/>
              </a:rPr>
              <a:t>交互网页 · 随时更新</a:t>
            </a:r>
            <a:endParaRPr sz="950" b="0">
              <a:solidFill>
                <a:srgbClr val="6B74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7653527" y="1700784"/>
            <a:ext cx="3840479" cy="2130094"/>
          </a:xfrm>
          <a:prstGeom prst="roundRect">
            <a:avLst>
              <a:gd name="adj" fmla="val 6000"/>
            </a:avLst>
          </a:prstGeom>
          <a:solidFill>
            <a:srgbClr val="1A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26679" y="1764792"/>
            <a:ext cx="73152" cy="7315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54696" y="1764792"/>
            <a:ext cx="73152" cy="7315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82711" y="1764792"/>
            <a:ext cx="73152" cy="7315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39528" y="1705356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EBEDC"/>
                </a:solidFill>
                <a:latin typeface="微软雅黑"/>
                <a:ea typeface="微软雅黑"/>
                <a:cs typeface="微软雅黑"/>
              </a:rPr>
              <a:t>🔒 登录可见</a:t>
            </a:r>
            <a:endParaRPr sz="900" b="1">
              <a:solidFill>
                <a:srgbClr val="AEBEDC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3" name="Picture 62" descr="image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248" y="1920240"/>
            <a:ext cx="3749039" cy="1855774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7653527" y="3904030"/>
            <a:ext cx="38404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B7480"/>
                </a:solidFill>
                <a:latin typeface="微软雅黑"/>
                <a:ea typeface="微软雅黑"/>
                <a:cs typeface="微软雅黑"/>
              </a:rPr>
              <a:t>成品:2D→3D 进展报告 · 6 段结构 · 多张可视化图</a:t>
            </a:r>
            <a:endParaRPr sz="950" b="0">
              <a:solidFill>
                <a:srgbClr val="6B748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B7480"/>
                </a:solidFill>
                <a:latin typeface="微软雅黑"/>
                <a:ea typeface="微软雅黑"/>
                <a:cs typeface="微软雅黑"/>
              </a:rPr>
              <a:t>—— 这一页就是这么产出的,已放入本项目</a:t>
            </a:r>
            <a:endParaRPr sz="950" b="0">
              <a:solidFill>
                <a:srgbClr val="6B74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758952" y="5047488"/>
            <a:ext cx="10698480" cy="932688"/>
          </a:xfrm>
          <a:prstGeom prst="roundRect">
            <a:avLst>
              <a:gd name="adj" fmla="val 6000"/>
            </a:avLst>
          </a:prstGeom>
          <a:solidFill>
            <a:srgbClr val="FF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03591"/>
                </a:solidFill>
                <a:latin typeface="微软雅黑"/>
                <a:ea typeface="微软雅黑"/>
                <a:cs typeface="微软雅黑"/>
              </a:rPr>
              <a:t>为什么快：</a:t>
            </a:r>
            <a:r>
              <a:rPr sz="11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AI 起草文案与代码化图表、人只核对数字口径 —— 省掉手写和排版画图这两件最耗时的事。</a:t>
            </a:r>
            <a:endParaRPr sz="1150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03591"/>
                </a:solidFill>
                <a:latin typeface="微软雅黑"/>
                <a:ea typeface="微软雅黑"/>
                <a:cs typeface="微软雅黑"/>
              </a:rPr>
              <a:t>可保密：</a:t>
            </a:r>
            <a:r>
              <a:rPr sz="11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整份报告用公司邮箱验证码登录守卫 —— 保密研发进展也能放网页安全共享,门禁自动挡外部,不必公开发布。</a:t>
            </a:r>
            <a:endParaRPr sz="1150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03591"/>
                </a:solidFill>
                <a:latin typeface="微软雅黑"/>
                <a:ea typeface="微软雅黑"/>
                <a:cs typeface="微软雅黑"/>
              </a:rPr>
              <a:t>可复用：</a:t>
            </a:r>
            <a:r>
              <a:rPr sz="11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换个课题(SDR→HDR、任意研究进展)照跑,几小时再出一份可汇报、可展示的网页。</a:t>
            </a:r>
            <a:endParaRPr sz="1150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椭圆 13"/>
          <p:cNvSpPr>
            <a:spLocks noGrp="1"/>
          </p:cNvSpPr>
          <p:nvPr/>
        </p:nvSpPr>
        <p:spPr>
          <a:xfrm>
            <a:off x="349003" y="381209"/>
            <a:ext cx="403243" cy="403243"/>
          </a:xfrm>
          <a:prstGeom prst="ellipse">
            <a:avLst/>
          </a:prstGeom>
          <a:gradFill>
            <a:gsLst>
              <a:gs pos="0">
                <a:srgbClr val="003591"/>
              </a:gs>
              <a:gs pos="52000">
                <a:srgbClr val="3038D6"/>
              </a:gs>
              <a:gs pos="100000">
                <a:srgbClr val="0035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5" name="任意多边形: 形状 14"/>
          <p:cNvSpPr>
            <a:spLocks noGrp="1"/>
          </p:cNvSpPr>
          <p:nvPr/>
        </p:nvSpPr>
        <p:spPr>
          <a:xfrm rot="13500000" flipV="1">
            <a:off x="468438" y="500645"/>
            <a:ext cx="164371" cy="164371"/>
          </a:xfrm>
          <a:custGeom>
            <a:avLst/>
            <a:gdLst/>
            <a:ahLst/>
            <a:cxnLst/>
            <a:rect l="l" t="t" r="r" b="b"/>
            <a:pathLst>
              <a:path w="581069" h="581068">
                <a:moveTo>
                  <a:pt x="0" y="684"/>
                </a:moveTo>
                <a:lnTo>
                  <a:pt x="684" y="684"/>
                </a:lnTo>
                <a:lnTo>
                  <a:pt x="684" y="0"/>
                </a:lnTo>
                <a:lnTo>
                  <a:pt x="547884" y="0"/>
                </a:lnTo>
                <a:lnTo>
                  <a:pt x="547884" y="98622"/>
                </a:lnTo>
                <a:lnTo>
                  <a:pt x="168359" y="98622"/>
                </a:lnTo>
                <a:lnTo>
                  <a:pt x="581069" y="511332"/>
                </a:lnTo>
                <a:lnTo>
                  <a:pt x="511333" y="581068"/>
                </a:lnTo>
                <a:lnTo>
                  <a:pt x="98622" y="168358"/>
                </a:lnTo>
                <a:lnTo>
                  <a:pt x="98622" y="547884"/>
                </a:lnTo>
                <a:lnTo>
                  <a:pt x="0" y="54788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1008768" y="321220"/>
            <a:ext cx="10668000" cy="883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gradFill>
                  <a:gsLst>
                    <a:gs pos="0">
                      <a:srgbClr val="003591"/>
                    </a:gs>
                    <a:gs pos="52000">
                      <a:srgbClr val="3038D6"/>
                    </a:gs>
                    <a:gs pos="100000">
                      <a:srgbClr val="003591"/>
                    </a:gs>
                  </a:gsLst>
                  <a:lin ang="5400000" scaled="1"/>
                </a:gradFill>
                <a:latin typeface="微软雅黑"/>
                <a:ea typeface="微软雅黑"/>
                <a:cs typeface="微软雅黑"/>
              </a:rPr>
              <a:t>提效/创新显性度：可视化演示让抽象知识可操作</a:t>
            </a:r>
            <a:endParaRPr sz="2600" b="1">
              <a:gradFill>
                <a:gsLst>
                  <a:gs pos="0">
                    <a:srgbClr val="003591"/>
                  </a:gs>
                  <a:gs pos="52000">
                    <a:srgbClr val="3038D6"/>
                  </a:gs>
                  <a:gs pos="100000">
                    <a:srgbClr val="003591"/>
                  </a:gs>
                </a:gsLst>
                <a:lin ang="5400000" scaled="1"/>
              </a:gradFill>
              <a:latin typeface="微软雅黑"/>
              <a:ea typeface="微软雅黑"/>
              <a:cs typeface="微软雅黑"/>
            </a:endParaRPr>
          </a:p>
          <a:p>
            <a:endParaRPr sz="2600" b="1">
              <a:gradFill>
                <a:gsLst>
                  <a:gs pos="0">
                    <a:srgbClr val="003591"/>
                  </a:gs>
                  <a:gs pos="52000">
                    <a:srgbClr val="3038D6"/>
                  </a:gs>
                  <a:gs pos="100000">
                    <a:srgbClr val="003591"/>
                  </a:gs>
                </a:gsLst>
                <a:lin ang="5400000" scaled="1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85800" y="1200150"/>
            <a:ext cx="6000750" cy="3238500"/>
          </a:xfrm>
          <a:prstGeom prst="roundRect">
            <a:avLst>
              <a:gd name="adj" fmla="val 2353"/>
            </a:avLst>
          </a:prstGeom>
          <a:solidFill>
            <a:srgbClr val="1A2742"/>
          </a:solidFill>
          <a:ln w="9525">
            <a:solidFill>
              <a:srgbClr val="2A3F6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/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rcRect t="8198" b="8198"/>
          <a:stretch>
            <a:fillRect/>
          </a:stretch>
        </p:blipFill>
        <p:spPr>
          <a:xfrm>
            <a:off x="819150" y="1333500"/>
            <a:ext cx="5734050" cy="2571750"/>
          </a:xfrm>
          <a:prstGeom prst="roundRect">
            <a:avLst/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990600" y="4038600"/>
            <a:ext cx="539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95833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同色异谱演示：拖动光谱峰值，实时观察 XYZ 与色块变化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048500" y="1200150"/>
            <a:ext cx="3810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5E0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334250" y="14287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0833"/>
          </a:bodyPr>
          <a:lstStyle/>
          <a:p>
            <a:pPr algn="l">
              <a:buNone/>
              <a:defRPr sz="1800" b="1">
                <a:solidFill>
                  <a:srgbClr val="1A27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A2742"/>
                </a:solidFill>
                <a:latin typeface="微软雅黑"/>
                <a:ea typeface="微软雅黑"/>
                <a:cs typeface="微软雅黑"/>
              </a:rPr>
              <a:t>展示效果</a:t>
            </a:r>
            <a:endParaRPr sz="1800" b="1">
              <a:solidFill>
                <a:srgbClr val="1A27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334250" y="1885950"/>
            <a:ext cx="3143250" cy="514350"/>
          </a:xfrm>
          <a:prstGeom prst="roundRect">
            <a:avLst>
              <a:gd name="adj" fmla="val 14815"/>
            </a:avLst>
          </a:prstGeom>
          <a:solidFill>
            <a:srgbClr val="F8F9FA"/>
          </a:solidFill>
          <a:ln w="9525">
            <a:solidFill>
              <a:srgbClr val="D5E0EF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67600" y="19812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3591"/>
          </a:solidFill>
          <a:ln w="9525">
            <a:solidFill>
              <a:srgbClr val="003591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67600" y="202882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4583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86700" y="20097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3338"/>
          </a:bodyPr>
          <a:lstStyle/>
          <a:p>
            <a:pPr algn="l">
              <a:buNone/>
              <a:defRPr sz="1390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可拖动：滑块改变光谱，读者亲手验证</a:t>
            </a:r>
            <a:endParaRPr sz="1390" b="1">
              <a:solidFill>
                <a:srgbClr val="2328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334250" y="2514600"/>
            <a:ext cx="3143250" cy="514350"/>
          </a:xfrm>
          <a:prstGeom prst="roundRect">
            <a:avLst>
              <a:gd name="adj" fmla="val 14815"/>
            </a:avLst>
          </a:prstGeom>
          <a:solidFill>
            <a:srgbClr val="F8F9FA"/>
          </a:solidFill>
          <a:ln w="9525">
            <a:solidFill>
              <a:srgbClr val="D5E0EF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7467600" y="26098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5385C5"/>
          </a:solidFill>
          <a:ln w="9525">
            <a:solidFill>
              <a:srgbClr val="5385C5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67600" y="265747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4583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886700" y="26384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7931"/>
          </a:bodyPr>
          <a:lstStyle/>
          <a:p>
            <a:pPr algn="l">
              <a:buNone/>
              <a:defRPr sz="1390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可量化：波长、XYZ与色块同步展示</a:t>
            </a:r>
            <a:endParaRPr sz="1390" b="1">
              <a:solidFill>
                <a:srgbClr val="2328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7334250" y="3143250"/>
            <a:ext cx="3143250" cy="514350"/>
          </a:xfrm>
          <a:prstGeom prst="roundRect">
            <a:avLst>
              <a:gd name="adj" fmla="val 14815"/>
            </a:avLst>
          </a:prstGeom>
          <a:solidFill>
            <a:srgbClr val="F8F9FA"/>
          </a:solidFill>
          <a:ln w="9525">
            <a:solidFill>
              <a:srgbClr val="D5E0EF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7467600" y="32385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467886"/>
          </a:solidFill>
          <a:ln w="9525">
            <a:solidFill>
              <a:srgbClr val="467886"/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467600" y="328612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4583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886700" y="32670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82853"/>
          </a:bodyPr>
          <a:lstStyle/>
          <a:p>
            <a:pPr algn="l">
              <a:buNone/>
              <a:defRPr sz="1390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可解释：匹配失败也能说明边界</a:t>
            </a:r>
            <a:endParaRPr sz="1390" b="1">
              <a:solidFill>
                <a:srgbClr val="2328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7334250" y="3771900"/>
            <a:ext cx="3143250" cy="514350"/>
          </a:xfrm>
          <a:prstGeom prst="roundRect">
            <a:avLst>
              <a:gd name="adj" fmla="val 14815"/>
            </a:avLst>
          </a:prstGeom>
          <a:solidFill>
            <a:srgbClr val="F8F9FA"/>
          </a:solidFill>
          <a:ln w="9525">
            <a:solidFill>
              <a:srgbClr val="D5E0EF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467600" y="38671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96607D"/>
          </a:solidFill>
          <a:ln w="9525">
            <a:solidFill>
              <a:srgbClr val="96607D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467600" y="391477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4583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886700" y="38957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82853"/>
          </a:bodyPr>
          <a:lstStyle/>
          <a:p>
            <a:pPr algn="l">
              <a:buNone/>
              <a:defRPr sz="1390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可复用：方法已用于多类技术章节</a:t>
            </a:r>
            <a:endParaRPr sz="1390" b="1">
              <a:solidFill>
                <a:srgbClr val="2328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685800" y="4724400"/>
            <a:ext cx="10172700" cy="438150"/>
          </a:xfrm>
          <a:prstGeom prst="roundRect">
            <a:avLst>
              <a:gd name="adj" fmla="val 17391"/>
            </a:avLst>
          </a:prstGeom>
          <a:solidFill>
            <a:srgbClr val="F5F7FA"/>
          </a:solidFill>
          <a:ln w="9525">
            <a:solidFill>
              <a:srgbClr val="C5D5E8"/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71550" y="4838700"/>
            <a:ext cx="962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0000"/>
          </a:bodyPr>
          <a:lstStyle/>
          <a:p>
            <a:pPr algn="l">
              <a:buNone/>
              <a:defRPr sz="1500" b="1">
                <a:solidFill>
                  <a:srgbClr val="1A27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A2742"/>
                </a:solidFill>
                <a:latin typeface="微软雅黑"/>
                <a:ea typeface="微软雅黑"/>
                <a:cs typeface="微软雅黑"/>
              </a:rPr>
              <a:t>创新点：把“看不见的光谱差异”变成可交互、可解释、可用于工作流讨论的页面。</a:t>
            </a:r>
            <a:endParaRPr sz="1500" b="1">
              <a:solidFill>
                <a:srgbClr val="1A27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514350" y="5734050"/>
            <a:ext cx="11201400" cy="495300"/>
          </a:xfrm>
          <a:prstGeom prst="roundRect">
            <a:avLst>
              <a:gd name="adj" fmla="val 3846"/>
            </a:avLst>
          </a:prstGeom>
          <a:solidFill>
            <a:srgbClr val="FFF0E0"/>
          </a:solidFill>
          <a:ln w="9525">
            <a:solidFill>
              <a:srgbClr val="966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23900" y="5876925"/>
            <a:ext cx="1078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4841"/>
          </a:bodyPr>
          <a:lstStyle/>
          <a:p>
            <a:pPr algn="l">
              <a:buNone/>
              <a:defRPr sz="1390" b="1">
                <a:solidFill>
                  <a:srgbClr val="654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B4D5A"/>
                </a:solidFill>
                <a:latin typeface="微软雅黑"/>
                <a:ea typeface="微软雅黑"/>
                <a:cs typeface="微软雅黑"/>
              </a:rPr>
              <a:t>智慧学堂的价值不只是“把资料搬到网页”，而是把复杂知识做成能操作的学习体验。</a:t>
            </a:r>
            <a:endParaRPr sz="1275" b="1">
              <a:solidFill>
                <a:srgbClr val="6B4D5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Rectangle 45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" name="任意多边形: 形状 1"/>
          <p:cNvSpPr>
            <a:spLocks noGrp="1"/>
          </p:cNvSpPr>
          <p:nvPr/>
        </p:nvSpPr>
        <p:spPr>
          <a:xfrm rot="16200000">
            <a:off x="7276479" y="846551"/>
            <a:ext cx="4742354" cy="5088694"/>
          </a:xfrm>
          <a:custGeom>
            <a:avLst/>
            <a:gdLst/>
            <a:ahLst/>
            <a:cxnLst/>
            <a:rect l="l" t="t" r="r" b="b"/>
            <a:pathLst>
              <a:path w="4742354" h="5088694">
                <a:moveTo>
                  <a:pt x="4742354" y="5088694"/>
                </a:moveTo>
                <a:lnTo>
                  <a:pt x="3688656" y="5088694"/>
                </a:lnTo>
                <a:lnTo>
                  <a:pt x="2371176" y="2261300"/>
                </a:lnTo>
                <a:lnTo>
                  <a:pt x="1053696" y="5088694"/>
                </a:lnTo>
                <a:lnTo>
                  <a:pt x="0" y="5088693"/>
                </a:lnTo>
                <a:lnTo>
                  <a:pt x="2371177" y="0"/>
                </a:lnTo>
                <a:close/>
              </a:path>
            </a:pathLst>
          </a:custGeom>
          <a:gradFill rotWithShape="1">
            <a:gsLst>
              <a:gs pos="0">
                <a:srgbClr val="003591"/>
              </a:gs>
              <a:gs pos="30000">
                <a:srgbClr val="3038D6">
                  <a:alpha val="80000"/>
                </a:srgbClr>
              </a:gs>
              <a:gs pos="50000">
                <a:srgbClr val="003591">
                  <a:alpha val="40000"/>
                </a:srgbClr>
              </a:gs>
              <a:gs pos="65000">
                <a:srgbClr val="003591">
                  <a:alpha val="0"/>
                </a:srgbClr>
              </a:gs>
            </a:gsLst>
            <a:lin ang="12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3" name="任意多边形: 形状 2"/>
          <p:cNvSpPr>
            <a:spLocks noGrp="1"/>
          </p:cNvSpPr>
          <p:nvPr/>
        </p:nvSpPr>
        <p:spPr>
          <a:xfrm rot="16200000">
            <a:off x="9447330" y="1970218"/>
            <a:ext cx="2647978" cy="2841363"/>
          </a:xfrm>
          <a:custGeom>
            <a:avLst/>
            <a:gdLst/>
            <a:ahLst/>
            <a:cxnLst/>
            <a:rect l="l" t="t" r="r" b="b"/>
            <a:pathLst>
              <a:path w="2647978" h="2841363">
                <a:moveTo>
                  <a:pt x="2647978" y="2841363"/>
                </a:moveTo>
                <a:lnTo>
                  <a:pt x="1640673" y="2841363"/>
                </a:lnTo>
                <a:lnTo>
                  <a:pt x="1323989" y="2161738"/>
                </a:lnTo>
                <a:lnTo>
                  <a:pt x="1007304" y="2841363"/>
                </a:lnTo>
                <a:lnTo>
                  <a:pt x="0" y="2841363"/>
                </a:lnTo>
                <a:lnTo>
                  <a:pt x="1323989" y="0"/>
                </a:lnTo>
                <a:close/>
              </a:path>
            </a:pathLst>
          </a:custGeom>
          <a:gradFill rotWithShape="1">
            <a:gsLst>
              <a:gs pos="0">
                <a:srgbClr val="003591">
                  <a:alpha val="30000"/>
                </a:srgbClr>
              </a:gs>
              <a:gs pos="30000">
                <a:srgbClr val="3038D6">
                  <a:alpha val="20000"/>
                </a:srgbClr>
              </a:gs>
              <a:gs pos="50000">
                <a:srgbClr val="003591">
                  <a:alpha val="10000"/>
                </a:srgbClr>
              </a:gs>
              <a:gs pos="65000">
                <a:srgbClr val="003591">
                  <a:alpha val="0"/>
                </a:srgbClr>
              </a:gs>
            </a:gsLst>
            <a:lin ang="12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5" name="任意多边形: 形状 4"/>
          <p:cNvSpPr>
            <a:spLocks noGrp="1"/>
          </p:cNvSpPr>
          <p:nvPr/>
        </p:nvSpPr>
        <p:spPr>
          <a:xfrm rot="5400000" flipH="1">
            <a:off x="96694" y="1970218"/>
            <a:ext cx="2647978" cy="2841363"/>
          </a:xfrm>
          <a:custGeom>
            <a:avLst/>
            <a:gdLst/>
            <a:ahLst/>
            <a:cxnLst/>
            <a:rect l="l" t="t" r="r" b="b"/>
            <a:pathLst>
              <a:path w="2647978" h="2841363">
                <a:moveTo>
                  <a:pt x="2647978" y="2841363"/>
                </a:moveTo>
                <a:lnTo>
                  <a:pt x="1640673" y="2841363"/>
                </a:lnTo>
                <a:lnTo>
                  <a:pt x="1323989" y="2161738"/>
                </a:lnTo>
                <a:lnTo>
                  <a:pt x="1007304" y="2841363"/>
                </a:lnTo>
                <a:lnTo>
                  <a:pt x="0" y="2841363"/>
                </a:lnTo>
                <a:lnTo>
                  <a:pt x="1323989" y="0"/>
                </a:lnTo>
                <a:close/>
              </a:path>
            </a:pathLst>
          </a:custGeom>
          <a:gradFill rotWithShape="1">
            <a:gsLst>
              <a:gs pos="0">
                <a:srgbClr val="003591">
                  <a:alpha val="30000"/>
                </a:srgbClr>
              </a:gs>
              <a:gs pos="30000">
                <a:srgbClr val="3038D6">
                  <a:alpha val="20000"/>
                </a:srgbClr>
              </a:gs>
              <a:gs pos="50000">
                <a:srgbClr val="003591">
                  <a:alpha val="10000"/>
                </a:srgbClr>
              </a:gs>
              <a:gs pos="65000">
                <a:srgbClr val="003591">
                  <a:alpha val="0"/>
                </a:srgbClr>
              </a:gs>
            </a:gsLst>
            <a:lin ang="12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7" name="任意多边形: 形状 6"/>
          <p:cNvSpPr>
            <a:spLocks noGrp="1"/>
          </p:cNvSpPr>
          <p:nvPr/>
        </p:nvSpPr>
        <p:spPr>
          <a:xfrm>
            <a:off x="4316381" y="3921904"/>
            <a:ext cx="3531344" cy="544209"/>
          </a:xfrm>
          <a:custGeom>
            <a:avLst/>
            <a:gdLst/>
            <a:ahLst/>
            <a:cxnLst/>
            <a:rect l="l" t="t" r="r" b="b"/>
            <a:pathLst>
              <a:path w="3383491" h="527050">
                <a:moveTo>
                  <a:pt x="0" y="2116"/>
                </a:moveTo>
                <a:lnTo>
                  <a:pt x="1600200" y="2116"/>
                </a:lnTo>
                <a:lnTo>
                  <a:pt x="1346200" y="527050"/>
                </a:lnTo>
                <a:lnTo>
                  <a:pt x="2071158" y="0"/>
                </a:lnTo>
                <a:lnTo>
                  <a:pt x="3383491" y="0"/>
                </a:lnTo>
              </a:path>
            </a:pathLst>
          </a:custGeom>
          <a:noFill/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任意多边形: 形状 3"/>
          <p:cNvSpPr>
            <a:spLocks noGrp="1"/>
          </p:cNvSpPr>
          <p:nvPr/>
        </p:nvSpPr>
        <p:spPr>
          <a:xfrm rot="5400000" flipH="1">
            <a:off x="173171" y="846551"/>
            <a:ext cx="4742354" cy="5088694"/>
          </a:xfrm>
          <a:custGeom>
            <a:avLst/>
            <a:gdLst/>
            <a:ahLst/>
            <a:cxnLst/>
            <a:rect l="l" t="t" r="r" b="b"/>
            <a:pathLst>
              <a:path w="4742354" h="5088694">
                <a:moveTo>
                  <a:pt x="4742354" y="5088694"/>
                </a:moveTo>
                <a:lnTo>
                  <a:pt x="3688656" y="5088694"/>
                </a:lnTo>
                <a:lnTo>
                  <a:pt x="2371176" y="2261300"/>
                </a:lnTo>
                <a:lnTo>
                  <a:pt x="1053696" y="5088694"/>
                </a:lnTo>
                <a:lnTo>
                  <a:pt x="0" y="5088693"/>
                </a:lnTo>
                <a:lnTo>
                  <a:pt x="2371177" y="0"/>
                </a:lnTo>
                <a:close/>
              </a:path>
            </a:pathLst>
          </a:custGeom>
          <a:gradFill rotWithShape="1">
            <a:gsLst>
              <a:gs pos="0">
                <a:srgbClr val="003591"/>
              </a:gs>
              <a:gs pos="30000">
                <a:srgbClr val="3038D6">
                  <a:alpha val="80000"/>
                </a:srgbClr>
              </a:gs>
              <a:gs pos="50000">
                <a:srgbClr val="003591">
                  <a:alpha val="40000"/>
                </a:srgbClr>
              </a:gs>
              <a:gs pos="65000">
                <a:srgbClr val="003591">
                  <a:alpha val="0"/>
                </a:srgbClr>
              </a:gs>
            </a:gsLst>
            <a:lin ang="12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50" name="文本框 49"/>
          <p:cNvSpPr>
            <a:spLocks noGrp="1"/>
          </p:cNvSpPr>
          <p:nvPr/>
        </p:nvSpPr>
        <p:spPr>
          <a:xfrm>
            <a:off x="4344277" y="1588736"/>
            <a:ext cx="3503448" cy="150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9200" spc="300">
                <a:solidFill>
                  <a:srgbClr val="003591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9200" spc="300">
              <a:solidFill>
                <a:srgbClr val="0035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48548" y="2908935"/>
            <a:ext cx="7494905" cy="1432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复用推广价值——“广不广”</a:t>
            </a:r>
            <a:endParaRPr sz="4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椭圆 13"/>
          <p:cNvSpPr>
            <a:spLocks noGrp="1"/>
          </p:cNvSpPr>
          <p:nvPr/>
        </p:nvSpPr>
        <p:spPr>
          <a:xfrm>
            <a:off x="349003" y="381209"/>
            <a:ext cx="403243" cy="403243"/>
          </a:xfrm>
          <a:prstGeom prst="ellipse">
            <a:avLst/>
          </a:prstGeom>
          <a:gradFill>
            <a:gsLst>
              <a:gs pos="0">
                <a:srgbClr val="003591"/>
              </a:gs>
              <a:gs pos="52000">
                <a:srgbClr val="3038D6"/>
              </a:gs>
              <a:gs pos="100000">
                <a:srgbClr val="0035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5" name="任意多边形: 形状 14"/>
          <p:cNvSpPr>
            <a:spLocks noGrp="1"/>
          </p:cNvSpPr>
          <p:nvPr/>
        </p:nvSpPr>
        <p:spPr>
          <a:xfrm rot="13500000" flipV="1">
            <a:off x="468438" y="500645"/>
            <a:ext cx="164371" cy="164371"/>
          </a:xfrm>
          <a:custGeom>
            <a:avLst/>
            <a:gdLst/>
            <a:ahLst/>
            <a:cxnLst/>
            <a:rect l="l" t="t" r="r" b="b"/>
            <a:pathLst>
              <a:path w="581069" h="581068">
                <a:moveTo>
                  <a:pt x="0" y="684"/>
                </a:moveTo>
                <a:lnTo>
                  <a:pt x="684" y="684"/>
                </a:lnTo>
                <a:lnTo>
                  <a:pt x="684" y="0"/>
                </a:lnTo>
                <a:lnTo>
                  <a:pt x="547884" y="0"/>
                </a:lnTo>
                <a:lnTo>
                  <a:pt x="547884" y="98622"/>
                </a:lnTo>
                <a:lnTo>
                  <a:pt x="168359" y="98622"/>
                </a:lnTo>
                <a:lnTo>
                  <a:pt x="581069" y="511332"/>
                </a:lnTo>
                <a:lnTo>
                  <a:pt x="511333" y="581068"/>
                </a:lnTo>
                <a:lnTo>
                  <a:pt x="98622" y="168358"/>
                </a:lnTo>
                <a:lnTo>
                  <a:pt x="98622" y="547884"/>
                </a:lnTo>
                <a:lnTo>
                  <a:pt x="0" y="54788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1008768" y="321220"/>
            <a:ext cx="10668000" cy="883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gradFill>
                  <a:gsLst>
                    <a:gs pos="0">
                      <a:srgbClr val="003591"/>
                    </a:gs>
                    <a:gs pos="52000">
                      <a:srgbClr val="3038D6"/>
                    </a:gs>
                    <a:gs pos="100000">
                      <a:srgbClr val="003591"/>
                    </a:gs>
                  </a:gsLst>
                  <a:lin ang="5400000" scaled="1"/>
                </a:gradFill>
                <a:latin typeface="微软雅黑"/>
                <a:ea typeface="微软雅黑"/>
                <a:cs typeface="微软雅黑"/>
              </a:rPr>
              <a:t>复用推广价值：已做部门演示，下一步转为可量化试用</a:t>
            </a:r>
            <a:endParaRPr sz="2600" b="1">
              <a:gradFill>
                <a:gsLst>
                  <a:gs pos="0">
                    <a:srgbClr val="003591"/>
                  </a:gs>
                  <a:gs pos="52000">
                    <a:srgbClr val="3038D6"/>
                  </a:gs>
                  <a:gs pos="100000">
                    <a:srgbClr val="003591"/>
                  </a:gs>
                </a:gsLst>
                <a:lin ang="5400000" scaled="1"/>
              </a:gradFill>
              <a:latin typeface="微软雅黑"/>
              <a:ea typeface="微软雅黑"/>
              <a:cs typeface="微软雅黑"/>
            </a:endParaRPr>
          </a:p>
          <a:p>
            <a:endParaRPr sz="2600" b="1">
              <a:gradFill>
                <a:gsLst>
                  <a:gs pos="0">
                    <a:srgbClr val="003591"/>
                  </a:gs>
                  <a:gs pos="52000">
                    <a:srgbClr val="3038D6"/>
                  </a:gs>
                  <a:gs pos="100000">
                    <a:srgbClr val="003591"/>
                  </a:gs>
                </a:gsLst>
                <a:lin ang="5400000" scaled="1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57250" y="1028700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80702"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部门内已完成演示；当前证据为定性反馈，下一步通过小范围试用补齐量化数据。</a:t>
            </a:r>
            <a:endParaRPr sz="14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76300" y="1581150"/>
            <a:ext cx="3028950" cy="19431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00359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04900" y="17907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3889"/>
          </a:bodyPr>
          <a:lstStyle/>
          <a:p>
            <a:pPr algn="l">
              <a:buNone/>
              <a:defRPr sz="1800" b="1">
                <a:solidFill>
                  <a:srgbClr val="0035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3591"/>
                </a:solidFill>
                <a:latin typeface="微软雅黑"/>
                <a:ea typeface="微软雅黑"/>
                <a:cs typeface="微软雅黑"/>
              </a:rPr>
              <a:t>0-30 天</a:t>
            </a:r>
            <a:endParaRPr sz="1800" b="1">
              <a:solidFill>
                <a:srgbClr val="0035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4900" y="21907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3913"/>
          </a:bodyPr>
          <a:lstStyle/>
          <a:p>
            <a:pPr algn="l">
              <a:buNone/>
              <a:defRPr sz="1725" b="1">
                <a:solidFill>
                  <a:srgbClr val="1A27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A2742"/>
                </a:solidFill>
                <a:latin typeface="微软雅黑"/>
                <a:ea typeface="微软雅黑"/>
                <a:cs typeface="微软雅黑"/>
              </a:rPr>
              <a:t>内部试用</a:t>
            </a:r>
            <a:endParaRPr sz="1725" b="1">
              <a:solidFill>
                <a:srgbClr val="1A27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04900" y="2609850"/>
            <a:ext cx="2571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/>
          </a:bodyPr>
          <a:lstStyle/>
          <a:p>
            <a:pPr algn="l">
              <a:buNone/>
              <a:defRPr sz="1240" b="0">
                <a:solidFill>
                  <a:srgbClr val="3835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383535"/>
                </a:solidFill>
                <a:latin typeface="微软雅黑"/>
                <a:ea typeface="微软雅黑"/>
                <a:cs typeface="微软雅黑"/>
              </a:rPr>
              <a:t>组织画质工程、新人和转岗同事试用；记录查证时长和高频问题。</a:t>
            </a:r>
            <a:endParaRPr sz="1240" b="0">
              <a:solidFill>
                <a:srgbClr val="3835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4381500" y="1581150"/>
            <a:ext cx="3028950" cy="19431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5385C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610100" y="17907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3889"/>
          </a:bodyPr>
          <a:lstStyle/>
          <a:p>
            <a:pPr algn="l">
              <a:buNone/>
              <a:defRPr sz="1800" b="1">
                <a:solidFill>
                  <a:srgbClr val="5385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385C5"/>
                </a:solidFill>
                <a:latin typeface="微软雅黑"/>
                <a:ea typeface="微软雅黑"/>
                <a:cs typeface="微软雅黑"/>
              </a:rPr>
              <a:t>31-60 天</a:t>
            </a:r>
            <a:endParaRPr sz="1800" b="1">
              <a:solidFill>
                <a:srgbClr val="5385C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610100" y="21907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3913"/>
          </a:bodyPr>
          <a:lstStyle/>
          <a:p>
            <a:pPr algn="l">
              <a:buNone/>
              <a:defRPr sz="1725" b="1">
                <a:solidFill>
                  <a:srgbClr val="1A27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A2742"/>
                </a:solidFill>
                <a:latin typeface="微软雅黑"/>
                <a:ea typeface="微软雅黑"/>
                <a:cs typeface="微软雅黑"/>
              </a:rPr>
              <a:t>补齐章节</a:t>
            </a:r>
            <a:endParaRPr sz="1725" b="1">
              <a:solidFill>
                <a:srgbClr val="1A27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610100" y="2609850"/>
            <a:ext cx="2571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/>
          </a:bodyPr>
          <a:lstStyle/>
          <a:p>
            <a:pPr algn="l">
              <a:buNone/>
              <a:defRPr sz="1240" b="0">
                <a:solidFill>
                  <a:srgbClr val="3835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383535"/>
                </a:solidFill>
                <a:latin typeface="微软雅黑"/>
                <a:ea typeface="微软雅黑"/>
                <a:cs typeface="微软雅黑"/>
              </a:rPr>
              <a:t>补充显示器/电视技术、3D LUT、ACES、测试验证等章节，形成稳定编辑节奏。</a:t>
            </a:r>
            <a:endParaRPr sz="1240" b="0">
              <a:solidFill>
                <a:srgbClr val="3835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886700" y="1581150"/>
            <a:ext cx="3028950" cy="19431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46788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115300" y="17907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3889"/>
          </a:bodyPr>
          <a:lstStyle/>
          <a:p>
            <a:pPr algn="l">
              <a:buNone/>
              <a:defRPr sz="1800" b="1">
                <a:solidFill>
                  <a:srgbClr val="4678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467886"/>
                </a:solidFill>
                <a:latin typeface="微软雅黑"/>
                <a:ea typeface="微软雅黑"/>
                <a:cs typeface="微软雅黑"/>
              </a:rPr>
              <a:t>61-90 天</a:t>
            </a:r>
            <a:endParaRPr sz="1800" b="1">
              <a:solidFill>
                <a:srgbClr val="4678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115300" y="21907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3913"/>
          </a:bodyPr>
          <a:lstStyle/>
          <a:p>
            <a:pPr algn="l">
              <a:buNone/>
              <a:defRPr sz="1725" b="1">
                <a:solidFill>
                  <a:srgbClr val="1A27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A2742"/>
                </a:solidFill>
                <a:latin typeface="微软雅黑"/>
                <a:ea typeface="微软雅黑"/>
                <a:cs typeface="微软雅黑"/>
              </a:rPr>
              <a:t>案例扩散</a:t>
            </a:r>
            <a:endParaRPr sz="1725" b="1">
              <a:solidFill>
                <a:srgbClr val="1A27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115300" y="2609850"/>
            <a:ext cx="2571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/>
          </a:bodyPr>
          <a:lstStyle/>
          <a:p>
            <a:pPr algn="l">
              <a:buNone/>
              <a:defRPr sz="1240" b="0">
                <a:solidFill>
                  <a:srgbClr val="3835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383535"/>
                </a:solidFill>
                <a:latin typeface="微软雅黑"/>
                <a:ea typeface="微软雅黑"/>
                <a:cs typeface="微软雅黑"/>
              </a:rPr>
              <a:t>沉淀典型调校、测试、算法协作案例，建立跨部门复用入口。</a:t>
            </a:r>
            <a:endParaRPr sz="1240" b="0">
              <a:solidFill>
                <a:srgbClr val="3835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876300" y="3924300"/>
            <a:ext cx="9906000" cy="118110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 w="9525">
            <a:solidFill>
              <a:srgbClr val="C5D5E8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23950" y="41148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9697"/>
          </a:bodyPr>
          <a:lstStyle/>
          <a:p>
            <a:pPr algn="l">
              <a:buNone/>
              <a:defRPr sz="1650" b="1">
                <a:solidFill>
                  <a:srgbClr val="1A27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A2742"/>
                </a:solidFill>
                <a:latin typeface="微软雅黑"/>
                <a:ea typeface="微软雅黑"/>
                <a:cs typeface="微软雅黑"/>
              </a:rPr>
              <a:t>可复制资产</a:t>
            </a:r>
            <a:endParaRPr sz="1650" b="1">
              <a:solidFill>
                <a:srgbClr val="1A27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1123950" y="4572000"/>
            <a:ext cx="121920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003591"/>
            </a:solidFill>
            <a:prstDash val="solid"/>
          </a:ln>
        </p:spPr>
        <p:txBody>
          <a:bodyPr/>
          <a:lstStyle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238250" y="4629150"/>
            <a:ext cx="990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0035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3591"/>
                </a:solidFill>
                <a:latin typeface="微软雅黑"/>
                <a:ea typeface="微软雅黑"/>
                <a:cs typeface="微软雅黑"/>
              </a:rPr>
              <a:t>章节模板</a:t>
            </a:r>
            <a:endParaRPr sz="1125" b="1">
              <a:solidFill>
                <a:srgbClr val="0035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2647950" y="4572000"/>
            <a:ext cx="121920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5385C5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762250" y="4629150"/>
            <a:ext cx="990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5385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385C5"/>
                </a:solidFill>
                <a:latin typeface="微软雅黑"/>
                <a:ea typeface="微软雅黑"/>
                <a:cs typeface="微软雅黑"/>
              </a:rPr>
              <a:t>编辑规范</a:t>
            </a:r>
            <a:endParaRPr sz="1125" b="1">
              <a:solidFill>
                <a:srgbClr val="5385C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4171950" y="4572000"/>
            <a:ext cx="121920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467886"/>
            </a:solidFill>
            <a:prstDash val="solid"/>
          </a:ln>
        </p:spPr>
        <p:txBody>
          <a:bodyPr/>
          <a:lstStyle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286250" y="4629150"/>
            <a:ext cx="990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4678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467886"/>
                </a:solidFill>
                <a:latin typeface="微软雅黑"/>
                <a:ea typeface="微软雅黑"/>
                <a:cs typeface="微软雅黑"/>
              </a:rPr>
              <a:t>每日精选</a:t>
            </a:r>
            <a:endParaRPr sz="1125" b="1">
              <a:solidFill>
                <a:srgbClr val="4678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5695950" y="4572000"/>
            <a:ext cx="121920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96607D"/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810250" y="4629150"/>
            <a:ext cx="990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9660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96607D"/>
                </a:solidFill>
                <a:latin typeface="微软雅黑"/>
                <a:ea typeface="微软雅黑"/>
                <a:cs typeface="微软雅黑"/>
              </a:rPr>
              <a:t>源码托管</a:t>
            </a:r>
            <a:endParaRPr sz="1125" b="1">
              <a:solidFill>
                <a:srgbClr val="96607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7219950" y="4572000"/>
            <a:ext cx="121920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003591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334250" y="4629150"/>
            <a:ext cx="990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0035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3591"/>
                </a:solidFill>
                <a:latin typeface="微软雅黑"/>
                <a:ea typeface="微软雅黑"/>
                <a:cs typeface="微软雅黑"/>
              </a:rPr>
              <a:t>登录保护</a:t>
            </a:r>
            <a:endParaRPr sz="1125" b="1">
              <a:solidFill>
                <a:srgbClr val="0035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8743950" y="4572000"/>
            <a:ext cx="121920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9525">
            <a:solidFill>
              <a:srgbClr val="467886"/>
            </a:solidFill>
            <a:prstDash val="solid"/>
          </a:ln>
        </p:spPr>
        <p:txBody>
          <a:bodyPr/>
          <a:lstStyle/>
          <a:p/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858250" y="4629150"/>
            <a:ext cx="990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8889"/>
          </a:bodyPr>
          <a:lstStyle/>
          <a:p>
            <a:pPr algn="ctr">
              <a:buNone/>
              <a:defRPr sz="1125" b="1">
                <a:solidFill>
                  <a:srgbClr val="4678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467886"/>
                </a:solidFill>
                <a:latin typeface="微软雅黑"/>
                <a:ea typeface="微软雅黑"/>
                <a:cs typeface="微软雅黑"/>
              </a:rPr>
              <a:t>实战案例库</a:t>
            </a:r>
            <a:endParaRPr sz="1125" b="1">
              <a:solidFill>
                <a:srgbClr val="4678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514350" y="5734050"/>
            <a:ext cx="11201400" cy="495300"/>
          </a:xfrm>
          <a:prstGeom prst="roundRect">
            <a:avLst>
              <a:gd name="adj" fmla="val 3846"/>
            </a:avLst>
          </a:prstGeom>
          <a:solidFill>
            <a:srgbClr val="FFF0E0"/>
          </a:solidFill>
          <a:ln w="9525">
            <a:solidFill>
              <a:srgbClr val="966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23900" y="5876925"/>
            <a:ext cx="1078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4841"/>
          </a:bodyPr>
          <a:lstStyle/>
          <a:p>
            <a:pPr algn="l">
              <a:buNone/>
              <a:defRPr sz="1390" b="1">
                <a:solidFill>
                  <a:srgbClr val="654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B4D5A"/>
                </a:solidFill>
                <a:latin typeface="微软雅黑"/>
                <a:ea typeface="微软雅黑"/>
                <a:cs typeface="微软雅黑"/>
              </a:rPr>
              <a:t>复用价值不依赖单次汇报，而依赖可持续补页、可验证案例和低成本部署。</a:t>
            </a:r>
            <a:endParaRPr sz="1275" b="1">
              <a:solidFill>
                <a:srgbClr val="6B4D5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Rectangle 44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椭圆 13"/>
          <p:cNvSpPr>
            <a:spLocks noGrp="1"/>
          </p:cNvSpPr>
          <p:nvPr/>
        </p:nvSpPr>
        <p:spPr>
          <a:xfrm>
            <a:off x="349003" y="381209"/>
            <a:ext cx="403243" cy="403243"/>
          </a:xfrm>
          <a:prstGeom prst="ellipse">
            <a:avLst/>
          </a:prstGeom>
          <a:gradFill>
            <a:gsLst>
              <a:gs pos="0">
                <a:srgbClr val="003591"/>
              </a:gs>
              <a:gs pos="52000">
                <a:srgbClr val="3038D6"/>
              </a:gs>
              <a:gs pos="100000">
                <a:srgbClr val="0035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5" name="任意多边形: 形状 14"/>
          <p:cNvSpPr>
            <a:spLocks noGrp="1"/>
          </p:cNvSpPr>
          <p:nvPr/>
        </p:nvSpPr>
        <p:spPr>
          <a:xfrm rot="13500000" flipV="1">
            <a:off x="468438" y="500645"/>
            <a:ext cx="164371" cy="164371"/>
          </a:xfrm>
          <a:custGeom>
            <a:avLst/>
            <a:gdLst/>
            <a:ahLst/>
            <a:cxnLst/>
            <a:rect l="l" t="t" r="r" b="b"/>
            <a:pathLst>
              <a:path w="581069" h="581068">
                <a:moveTo>
                  <a:pt x="0" y="684"/>
                </a:moveTo>
                <a:lnTo>
                  <a:pt x="684" y="684"/>
                </a:lnTo>
                <a:lnTo>
                  <a:pt x="684" y="0"/>
                </a:lnTo>
                <a:lnTo>
                  <a:pt x="547884" y="0"/>
                </a:lnTo>
                <a:lnTo>
                  <a:pt x="547884" y="98622"/>
                </a:lnTo>
                <a:lnTo>
                  <a:pt x="168359" y="98622"/>
                </a:lnTo>
                <a:lnTo>
                  <a:pt x="581069" y="511332"/>
                </a:lnTo>
                <a:lnTo>
                  <a:pt x="511333" y="581068"/>
                </a:lnTo>
                <a:lnTo>
                  <a:pt x="98622" y="168358"/>
                </a:lnTo>
                <a:lnTo>
                  <a:pt x="98622" y="547884"/>
                </a:lnTo>
                <a:lnTo>
                  <a:pt x="0" y="54788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1008768" y="321220"/>
            <a:ext cx="10668000" cy="883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gradFill>
                  <a:gsLst>
                    <a:gs pos="0">
                      <a:srgbClr val="003591"/>
                    </a:gs>
                    <a:gs pos="52000">
                      <a:srgbClr val="3038D6"/>
                    </a:gs>
                    <a:gs pos="100000">
                      <a:srgbClr val="003591"/>
                    </a:gs>
                  </a:gsLst>
                  <a:lin ang="5400000" scaled="1"/>
                </a:gradFill>
                <a:latin typeface="微软雅黑"/>
                <a:ea typeface="微软雅黑"/>
                <a:cs typeface="微软雅黑"/>
              </a:rPr>
              <a:t>复用推广价值：对象、条件、阻碍都能说清楚</a:t>
            </a:r>
            <a:endParaRPr sz="2600" b="1">
              <a:gradFill>
                <a:gsLst>
                  <a:gs pos="0">
                    <a:srgbClr val="003591"/>
                  </a:gs>
                  <a:gs pos="52000">
                    <a:srgbClr val="3038D6"/>
                  </a:gs>
                  <a:gs pos="100000">
                    <a:srgbClr val="003591"/>
                  </a:gs>
                </a:gsLst>
                <a:lin ang="5400000" scaled="1"/>
              </a:gradFill>
              <a:latin typeface="微软雅黑"/>
              <a:ea typeface="微软雅黑"/>
              <a:cs typeface="微软雅黑"/>
            </a:endParaRPr>
          </a:p>
          <a:p>
            <a:endParaRPr sz="2600" b="1">
              <a:gradFill>
                <a:gsLst>
                  <a:gs pos="0">
                    <a:srgbClr val="003591"/>
                  </a:gs>
                  <a:gs pos="52000">
                    <a:srgbClr val="3038D6"/>
                  </a:gs>
                  <a:gs pos="100000">
                    <a:srgbClr val="003591"/>
                  </a:gs>
                </a:gsLst>
                <a:lin ang="5400000" scaled="1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23900" y="1200150"/>
            <a:ext cx="45720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00359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57250" y="1333500"/>
            <a:ext cx="361950" cy="266700"/>
          </a:xfrm>
          <a:prstGeom prst="roundRect">
            <a:avLst>
              <a:gd name="adj" fmla="val 28571"/>
            </a:avLst>
          </a:prstGeom>
          <a:solidFill>
            <a:srgbClr val="003591"/>
          </a:solidFill>
          <a:ln w="9525">
            <a:solidFill>
              <a:srgbClr val="003591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57250" y="13716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1905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0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333500" y="1333500"/>
            <a:ext cx="3829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80702"/>
          </a:bodyPr>
          <a:lstStyle/>
          <a:p>
            <a:pPr algn="l">
              <a:buNone/>
              <a:defRPr sz="1425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3283A"/>
                </a:solidFill>
                <a:latin typeface="微软雅黑"/>
                <a:ea typeface="微软雅黑"/>
                <a:cs typeface="微软雅黑"/>
              </a:rPr>
              <a:t>画质工程师</a:t>
            </a:r>
            <a:endParaRPr sz="1425" b="1">
              <a:solidFill>
                <a:srgbClr val="2328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95350" y="1733550"/>
            <a:ext cx="4229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/>
          </a:bodyPr>
          <a:lstStyle/>
          <a:p>
            <a:pPr algn="l">
              <a:buNone/>
              <a:defRPr sz="1140" b="0">
                <a:solidFill>
                  <a:srgbClr val="3835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0">
                <a:solidFill>
                  <a:srgbClr val="383535"/>
                </a:solidFill>
                <a:latin typeface="微软雅黑"/>
                <a:ea typeface="微软雅黑"/>
                <a:cs typeface="微软雅黑"/>
              </a:rPr>
              <a:t>用于调校前学习、问题定位和跨模块沟通。</a:t>
            </a:r>
            <a:endParaRPr sz="1140" b="0">
              <a:solidFill>
                <a:srgbClr val="3835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5962650" y="1200150"/>
            <a:ext cx="45720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5385C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096000" y="1333500"/>
            <a:ext cx="361950" cy="266700"/>
          </a:xfrm>
          <a:prstGeom prst="roundRect">
            <a:avLst>
              <a:gd name="adj" fmla="val 28571"/>
            </a:avLst>
          </a:prstGeom>
          <a:solidFill>
            <a:srgbClr val="5385C5"/>
          </a:solidFill>
          <a:ln w="9525">
            <a:solidFill>
              <a:srgbClr val="5385C5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96000" y="13716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1905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0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572250" y="1333500"/>
            <a:ext cx="3829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80702"/>
          </a:bodyPr>
          <a:lstStyle/>
          <a:p>
            <a:pPr algn="l">
              <a:buNone/>
              <a:defRPr sz="1425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3283A"/>
                </a:solidFill>
                <a:latin typeface="微软雅黑"/>
                <a:ea typeface="微软雅黑"/>
                <a:cs typeface="微软雅黑"/>
              </a:rPr>
              <a:t>测试验证</a:t>
            </a:r>
            <a:endParaRPr sz="1425" b="1">
              <a:solidFill>
                <a:srgbClr val="2328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134100" y="1733550"/>
            <a:ext cx="4229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/>
          </a:bodyPr>
          <a:lstStyle/>
          <a:p>
            <a:pPr algn="l">
              <a:buNone/>
              <a:defRPr sz="1140" b="0">
                <a:solidFill>
                  <a:srgbClr val="3835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0">
                <a:solidFill>
                  <a:srgbClr val="383535"/>
                </a:solidFill>
                <a:latin typeface="微软雅黑"/>
                <a:ea typeface="微软雅黑"/>
                <a:cs typeface="微软雅黑"/>
              </a:rPr>
              <a:t>用于理解 HDR、色域、传递函数等验证口径。</a:t>
            </a:r>
            <a:endParaRPr sz="1140" b="0">
              <a:solidFill>
                <a:srgbClr val="3835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723900" y="2647950"/>
            <a:ext cx="45720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46788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57250" y="2781300"/>
            <a:ext cx="361950" cy="266700"/>
          </a:xfrm>
          <a:prstGeom prst="roundRect">
            <a:avLst>
              <a:gd name="adj" fmla="val 28571"/>
            </a:avLst>
          </a:prstGeom>
          <a:solidFill>
            <a:srgbClr val="467886"/>
          </a:solidFill>
          <a:ln w="9525">
            <a:solidFill>
              <a:srgbClr val="467886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57250" y="28194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1905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0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333500" y="2781300"/>
            <a:ext cx="3829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80702"/>
          </a:bodyPr>
          <a:lstStyle/>
          <a:p>
            <a:pPr algn="l">
              <a:buNone/>
              <a:defRPr sz="1425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3283A"/>
                </a:solidFill>
                <a:latin typeface="微软雅黑"/>
                <a:ea typeface="微软雅黑"/>
                <a:cs typeface="微软雅黑"/>
              </a:rPr>
              <a:t>算法/平台协作</a:t>
            </a:r>
            <a:endParaRPr sz="1425" b="1">
              <a:solidFill>
                <a:srgbClr val="2328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95350" y="3181350"/>
            <a:ext cx="4229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/>
          </a:bodyPr>
          <a:lstStyle/>
          <a:p>
            <a:pPr algn="l">
              <a:buNone/>
              <a:defRPr sz="1140" b="0">
                <a:solidFill>
                  <a:srgbClr val="3835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0">
                <a:solidFill>
                  <a:srgbClr val="383535"/>
                </a:solidFill>
                <a:latin typeface="微软雅黑"/>
                <a:ea typeface="微软雅黑"/>
                <a:cs typeface="微软雅黑"/>
              </a:rPr>
              <a:t>用于把算法方案翻译成画质可感知语言。</a:t>
            </a:r>
            <a:endParaRPr sz="1140" b="0">
              <a:solidFill>
                <a:srgbClr val="3835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5962650" y="2647950"/>
            <a:ext cx="45720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96607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6096000" y="2781300"/>
            <a:ext cx="361950" cy="266700"/>
          </a:xfrm>
          <a:prstGeom prst="roundRect">
            <a:avLst>
              <a:gd name="adj" fmla="val 28571"/>
            </a:avLst>
          </a:prstGeom>
          <a:solidFill>
            <a:srgbClr val="96607D"/>
          </a:solidFill>
          <a:ln w="9525">
            <a:solidFill>
              <a:srgbClr val="96607D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096000" y="28194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1905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0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572250" y="2781300"/>
            <a:ext cx="3829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80702"/>
          </a:bodyPr>
          <a:lstStyle/>
          <a:p>
            <a:pPr algn="l">
              <a:buNone/>
              <a:defRPr sz="1425" b="1">
                <a:solidFill>
                  <a:srgbClr val="2328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3283A"/>
                </a:solidFill>
                <a:latin typeface="微软雅黑"/>
                <a:ea typeface="微软雅黑"/>
                <a:cs typeface="微软雅黑"/>
              </a:rPr>
              <a:t>内容制作</a:t>
            </a:r>
            <a:endParaRPr sz="1425" b="1">
              <a:solidFill>
                <a:srgbClr val="2328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134100" y="3181350"/>
            <a:ext cx="4229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/>
          </a:bodyPr>
          <a:lstStyle/>
          <a:p>
            <a:pPr algn="l">
              <a:buNone/>
              <a:defRPr sz="1140" b="0">
                <a:solidFill>
                  <a:srgbClr val="3835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0">
                <a:solidFill>
                  <a:srgbClr val="383535"/>
                </a:solidFill>
                <a:latin typeface="微软雅黑"/>
                <a:ea typeface="微软雅黑"/>
                <a:cs typeface="微软雅黑"/>
              </a:rPr>
              <a:t>用于理解素材、后期、显示之间的关系。</a:t>
            </a:r>
            <a:endParaRPr sz="1140" b="0">
              <a:solidFill>
                <a:srgbClr val="3835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723900" y="4171950"/>
            <a:ext cx="4857750" cy="952500"/>
          </a:xfrm>
          <a:prstGeom prst="roundRect">
            <a:avLst>
              <a:gd name="adj" fmla="val 8000"/>
            </a:avLst>
          </a:prstGeom>
          <a:solidFill>
            <a:srgbClr val="F0F7F3"/>
          </a:solidFill>
          <a:ln w="9525">
            <a:solidFill>
              <a:srgbClr val="B5D8CC"/>
            </a:solidFill>
            <a:prstDash val="solid"/>
          </a:ln>
        </p:spPr>
        <p:txBody>
          <a:bodyPr/>
          <a:lstStyle/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90600" y="4343400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5079"/>
          </a:bodyPr>
          <a:lstStyle/>
          <a:p>
            <a:pPr algn="l">
              <a:buNone/>
              <a:defRPr sz="1575" b="1">
                <a:solidFill>
                  <a:srgbClr val="4678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467886"/>
                </a:solidFill>
                <a:latin typeface="微软雅黑"/>
                <a:ea typeface="微软雅黑"/>
                <a:cs typeface="微软雅黑"/>
              </a:rPr>
              <a:t>复制条件</a:t>
            </a:r>
            <a:endParaRPr sz="1575" b="1">
              <a:solidFill>
                <a:srgbClr val="4678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90600" y="4686300"/>
            <a:ext cx="422973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92691"/>
          </a:bodyPr>
          <a:lstStyle/>
          <a:p>
            <a:pPr algn="l">
              <a:buNone/>
              <a:defRPr sz="1275" b="1">
                <a:solidFill>
                  <a:srgbClr val="4678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467886"/>
                </a:solidFill>
                <a:latin typeface="微软雅黑"/>
                <a:ea typeface="微软雅黑"/>
                <a:cs typeface="微软雅黑"/>
              </a:rPr>
              <a:t>低成本静态部署 + 编辑规范 + 内容负责人 + 脱敏案例素材</a:t>
            </a:r>
            <a:endParaRPr sz="1275" b="1">
              <a:solidFill>
                <a:srgbClr val="4678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5867400" y="4171950"/>
            <a:ext cx="4857750" cy="952500"/>
          </a:xfrm>
          <a:prstGeom prst="roundRect">
            <a:avLst>
              <a:gd name="adj" fmla="val 8000"/>
            </a:avLst>
          </a:prstGeom>
          <a:solidFill>
            <a:srgbClr val="FDF5F5"/>
          </a:solidFill>
          <a:ln w="9525">
            <a:solidFill>
              <a:srgbClr val="E8A0A0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134100" y="43434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5079"/>
          </a:bodyPr>
          <a:lstStyle/>
          <a:p>
            <a:pPr algn="l">
              <a:buNone/>
              <a:defRPr sz="1575" b="1">
                <a:solidFill>
                  <a:srgbClr val="C4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44040"/>
                </a:solidFill>
                <a:latin typeface="微软雅黑"/>
                <a:ea typeface="微软雅黑"/>
                <a:cs typeface="微软雅黑"/>
              </a:rPr>
              <a:t>推广阻碍与资源</a:t>
            </a:r>
            <a:endParaRPr sz="1575" b="1">
              <a:solidFill>
                <a:srgbClr val="C4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134100" y="46863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3191"/>
          </a:bodyPr>
          <a:lstStyle/>
          <a:p>
            <a:pPr algn="l">
              <a:buNone/>
              <a:defRPr sz="1275" b="1">
                <a:solidFill>
                  <a:srgbClr val="C4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44040"/>
                </a:solidFill>
                <a:latin typeface="微软雅黑"/>
                <a:ea typeface="微软雅黑"/>
                <a:cs typeface="微软雅黑"/>
              </a:rPr>
              <a:t>数据脱敏、使用习惯、维护节奏；需账号、素材授权和反馈机制</a:t>
            </a:r>
            <a:endParaRPr sz="1275" b="1">
              <a:solidFill>
                <a:srgbClr val="C4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514350" y="5734050"/>
            <a:ext cx="11201400" cy="495300"/>
          </a:xfrm>
          <a:prstGeom prst="roundRect">
            <a:avLst>
              <a:gd name="adj" fmla="val 3846"/>
            </a:avLst>
          </a:prstGeom>
          <a:solidFill>
            <a:srgbClr val="FFF0E0"/>
          </a:solidFill>
          <a:ln w="9525">
            <a:solidFill>
              <a:srgbClr val="966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23900" y="5876925"/>
            <a:ext cx="1078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64841"/>
          </a:bodyPr>
          <a:lstStyle/>
          <a:p>
            <a:pPr algn="l">
              <a:buNone/>
              <a:defRPr sz="1390" b="1">
                <a:solidFill>
                  <a:srgbClr val="654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B4D5A"/>
                </a:solidFill>
                <a:latin typeface="微软雅黑"/>
                <a:ea typeface="微软雅黑"/>
                <a:cs typeface="微软雅黑"/>
              </a:rPr>
              <a:t>推广不是泛泛“可复用”，而是已明确人群、资产、条件、阻碍和下一步试用路径。</a:t>
            </a:r>
            <a:endParaRPr sz="1275" b="1">
              <a:solidFill>
                <a:srgbClr val="6B4D5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Rectangle 43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0" y="19050"/>
            <a:ext cx="12192000" cy="6838950"/>
          </a:xfrm>
          <a:prstGeom prst="rect">
            <a:avLst/>
          </a:prstGeom>
          <a:solidFill>
            <a:srgbClr val="1A2742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2286000" y="2190750"/>
            <a:ext cx="7620000" cy="2476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全链路画质智慧学堂</a:t>
            </a:r>
            <a:endParaRPr sz="30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让色彩与显示知识</a:t>
            </a:r>
            <a:endParaRPr sz="30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可查、可学、可复用</a:t>
            </a:r>
            <a:endParaRPr sz="30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0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39725"/>
            <a:ext cx="1295400" cy="4432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3209</Words>
  <Application>WPS 演示</Application>
  <PresentationFormat>Converted Presentation</PresentationFormat>
  <Paragraphs>409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汉仪旗黑</vt:lpstr>
      <vt:lpstr>微软雅黑</vt:lpstr>
      <vt:lpstr>等线</vt:lpstr>
      <vt:lpstr>汉仪中等线KW</vt:lpstr>
      <vt:lpstr>宋体</vt:lpstr>
      <vt:lpstr>Arial Unicode MS</vt:lpstr>
      <vt:lpstr>汉仪书宋二KW</vt:lpstr>
      <vt:lpstr>Calibri</vt:lpstr>
      <vt:lpstr>Helvetica Neue</vt:lpstr>
      <vt:lpstr>等线 Light</vt:lpstr>
      <vt:lpstr>微软雅黑</vt:lpstr>
      <vt:lpstr>兰米宋体</vt:lpstr>
      <vt:lpstr>汉仪细等线繁</vt:lpstr>
      <vt:lpstr>Apple Color Emoji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醒醒</cp:lastModifiedBy>
  <cp:revision>10</cp:revision>
  <dcterms:created xsi:type="dcterms:W3CDTF">2026-07-20T03:41:30Z</dcterms:created>
  <dcterms:modified xsi:type="dcterms:W3CDTF">2026-07-20T03:41:30Z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6344747A1B7B4899AAC3697C62690177</vt:lpwstr>
  </property>
  <property fmtid="{D5CDD505-2E9C-101B-9397-08002B2CF9AE}" pid="3" name="KSOProductBuildVer">
    <vt:lpwstr>2052-12.1.26026.26026</vt:lpwstr>
  </property>
</Properties>
</file>